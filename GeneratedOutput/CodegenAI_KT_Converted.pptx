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6F8A1-DF22-3870-33E5-56757B72DE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D9D3976-2545-E8D3-5BA4-0680B94E53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8387941-9CAA-AFCD-818A-F633AC8ED0B1}"/>
              </a:ext>
            </a:extLst>
          </p:cNvPr>
          <p:cNvSpPr>
            <a:spLocks noGrp="1"/>
          </p:cNvSpPr>
          <p:nvPr>
            <p:ph type="dt" sz="half" idx="10"/>
          </p:nvPr>
        </p:nvSpPr>
        <p:spPr/>
        <p:txBody>
          <a:bodyPr/>
          <a:lstStyle/>
          <a:p>
            <a:fld id="{82504B59-E39C-4384-9642-4778CB10BB58}" type="datetimeFigureOut">
              <a:rPr lang="en-US" smtClean="0"/>
              <a:t>10/6/2026</a:t>
            </a:fld>
            <a:endParaRPr lang="en-US"/>
          </a:p>
        </p:txBody>
      </p:sp>
      <p:sp>
        <p:nvSpPr>
          <p:cNvPr id="5" name="Footer Placeholder 4">
            <a:extLst>
              <a:ext uri="{FF2B5EF4-FFF2-40B4-BE49-F238E27FC236}">
                <a16:creationId xmlns:a16="http://schemas.microsoft.com/office/drawing/2014/main" id="{2F2C71F8-D928-1945-510D-52D6FB6CF1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CCB210-7DDF-6B65-6EC9-C35D5ACC1FF2}"/>
              </a:ext>
            </a:extLst>
          </p:cNvPr>
          <p:cNvSpPr>
            <a:spLocks noGrp="1"/>
          </p:cNvSpPr>
          <p:nvPr>
            <p:ph type="sldNum" sz="quarter" idx="12"/>
          </p:nvPr>
        </p:nvSpPr>
        <p:spPr/>
        <p:txBody>
          <a:bodyPr/>
          <a:lstStyle/>
          <a:p>
            <a:fld id="{F051908A-045C-4690-A6C2-9A4D36CC6B21}" type="slidenum">
              <a:rPr lang="en-US" smtClean="0"/>
              <a:t>‹#›</a:t>
            </a:fld>
            <a:endParaRPr lang="en-US"/>
          </a:p>
        </p:txBody>
      </p:sp>
    </p:spTree>
    <p:extLst>
      <p:ext uri="{BB962C8B-B14F-4D97-AF65-F5344CB8AC3E}">
        <p14:creationId xmlns:p14="http://schemas.microsoft.com/office/powerpoint/2010/main" val="3007510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E8813-3D8D-4FAE-1578-377B604035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EE79AD-4441-B4D0-FDDC-A81830707B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34790F-729A-19BF-1642-D66969D51248}"/>
              </a:ext>
            </a:extLst>
          </p:cNvPr>
          <p:cNvSpPr>
            <a:spLocks noGrp="1"/>
          </p:cNvSpPr>
          <p:nvPr>
            <p:ph type="dt" sz="half" idx="10"/>
          </p:nvPr>
        </p:nvSpPr>
        <p:spPr/>
        <p:txBody>
          <a:bodyPr/>
          <a:lstStyle/>
          <a:p>
            <a:fld id="{82504B59-E39C-4384-9642-4778CB10BB58}" type="datetimeFigureOut">
              <a:rPr lang="en-US" smtClean="0"/>
              <a:t>10/6/2026</a:t>
            </a:fld>
            <a:endParaRPr lang="en-US"/>
          </a:p>
        </p:txBody>
      </p:sp>
      <p:sp>
        <p:nvSpPr>
          <p:cNvPr id="5" name="Footer Placeholder 4">
            <a:extLst>
              <a:ext uri="{FF2B5EF4-FFF2-40B4-BE49-F238E27FC236}">
                <a16:creationId xmlns:a16="http://schemas.microsoft.com/office/drawing/2014/main" id="{FEA42B6B-359F-286C-D361-0468F1E44A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DE0702-7B60-0AFE-FF7D-A0054B697DD7}"/>
              </a:ext>
            </a:extLst>
          </p:cNvPr>
          <p:cNvSpPr>
            <a:spLocks noGrp="1"/>
          </p:cNvSpPr>
          <p:nvPr>
            <p:ph type="sldNum" sz="quarter" idx="12"/>
          </p:nvPr>
        </p:nvSpPr>
        <p:spPr/>
        <p:txBody>
          <a:bodyPr/>
          <a:lstStyle/>
          <a:p>
            <a:fld id="{F051908A-045C-4690-A6C2-9A4D36CC6B21}" type="slidenum">
              <a:rPr lang="en-US" smtClean="0"/>
              <a:t>‹#›</a:t>
            </a:fld>
            <a:endParaRPr lang="en-US"/>
          </a:p>
        </p:txBody>
      </p:sp>
    </p:spTree>
    <p:extLst>
      <p:ext uri="{BB962C8B-B14F-4D97-AF65-F5344CB8AC3E}">
        <p14:creationId xmlns:p14="http://schemas.microsoft.com/office/powerpoint/2010/main" val="2559528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96B84-F4AE-D0AA-5C15-23EAC766C0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405545-403D-511E-5DED-0B51CCF3BE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E2FF3B-8D88-620A-FA16-5D2893608F93}"/>
              </a:ext>
            </a:extLst>
          </p:cNvPr>
          <p:cNvSpPr>
            <a:spLocks noGrp="1"/>
          </p:cNvSpPr>
          <p:nvPr>
            <p:ph type="dt" sz="half" idx="10"/>
          </p:nvPr>
        </p:nvSpPr>
        <p:spPr/>
        <p:txBody>
          <a:bodyPr/>
          <a:lstStyle/>
          <a:p>
            <a:fld id="{82504B59-E39C-4384-9642-4778CB10BB58}" type="datetimeFigureOut">
              <a:rPr lang="en-US" smtClean="0"/>
              <a:t>10/6/2026</a:t>
            </a:fld>
            <a:endParaRPr lang="en-US"/>
          </a:p>
        </p:txBody>
      </p:sp>
      <p:sp>
        <p:nvSpPr>
          <p:cNvPr id="5" name="Footer Placeholder 4">
            <a:extLst>
              <a:ext uri="{FF2B5EF4-FFF2-40B4-BE49-F238E27FC236}">
                <a16:creationId xmlns:a16="http://schemas.microsoft.com/office/drawing/2014/main" id="{E5FBE58A-AA96-B545-D54B-C34B55F43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4F6A06-5E58-02EF-C5B2-F996F21AC797}"/>
              </a:ext>
            </a:extLst>
          </p:cNvPr>
          <p:cNvSpPr>
            <a:spLocks noGrp="1"/>
          </p:cNvSpPr>
          <p:nvPr>
            <p:ph type="sldNum" sz="quarter" idx="12"/>
          </p:nvPr>
        </p:nvSpPr>
        <p:spPr/>
        <p:txBody>
          <a:bodyPr/>
          <a:lstStyle/>
          <a:p>
            <a:fld id="{F051908A-045C-4690-A6C2-9A4D36CC6B21}" type="slidenum">
              <a:rPr lang="en-US" smtClean="0"/>
              <a:t>‹#›</a:t>
            </a:fld>
            <a:endParaRPr lang="en-US"/>
          </a:p>
        </p:txBody>
      </p:sp>
    </p:spTree>
    <p:extLst>
      <p:ext uri="{BB962C8B-B14F-4D97-AF65-F5344CB8AC3E}">
        <p14:creationId xmlns:p14="http://schemas.microsoft.com/office/powerpoint/2010/main" val="79705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C7345-5E65-8207-FCDA-6CCF35E35F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12D34A-2105-85A6-D12B-DBD6CD9FBA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9F219A-3DB6-312E-B654-793037C2FC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73D76F-E869-4081-4EBC-E4AD35529C85}"/>
              </a:ext>
            </a:extLst>
          </p:cNvPr>
          <p:cNvSpPr>
            <a:spLocks noGrp="1"/>
          </p:cNvSpPr>
          <p:nvPr>
            <p:ph type="dt" sz="half" idx="10"/>
          </p:nvPr>
        </p:nvSpPr>
        <p:spPr/>
        <p:txBody>
          <a:bodyPr/>
          <a:lstStyle/>
          <a:p>
            <a:fld id="{82504B59-E39C-4384-9642-4778CB10BB58}" type="datetimeFigureOut">
              <a:rPr lang="en-US" smtClean="0"/>
              <a:t>10/6/2026</a:t>
            </a:fld>
            <a:endParaRPr lang="en-US"/>
          </a:p>
        </p:txBody>
      </p:sp>
      <p:sp>
        <p:nvSpPr>
          <p:cNvPr id="6" name="Footer Placeholder 5">
            <a:extLst>
              <a:ext uri="{FF2B5EF4-FFF2-40B4-BE49-F238E27FC236}">
                <a16:creationId xmlns:a16="http://schemas.microsoft.com/office/drawing/2014/main" id="{14E838AC-2AF5-E19F-14B0-A673232CD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E99E73-998F-BD45-B9E0-396B2BD638F6}"/>
              </a:ext>
            </a:extLst>
          </p:cNvPr>
          <p:cNvSpPr>
            <a:spLocks noGrp="1"/>
          </p:cNvSpPr>
          <p:nvPr>
            <p:ph type="sldNum" sz="quarter" idx="12"/>
          </p:nvPr>
        </p:nvSpPr>
        <p:spPr/>
        <p:txBody>
          <a:bodyPr/>
          <a:lstStyle/>
          <a:p>
            <a:fld id="{F051908A-045C-4690-A6C2-9A4D36CC6B21}" type="slidenum">
              <a:rPr lang="en-US" smtClean="0"/>
              <a:t>‹#›</a:t>
            </a:fld>
            <a:endParaRPr lang="en-US"/>
          </a:p>
        </p:txBody>
      </p:sp>
    </p:spTree>
    <p:extLst>
      <p:ext uri="{BB962C8B-B14F-4D97-AF65-F5344CB8AC3E}">
        <p14:creationId xmlns:p14="http://schemas.microsoft.com/office/powerpoint/2010/main" val="3394751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69CB2-F5BC-55F4-3ADC-ED9860B042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3C0D6E-1ED4-A790-444B-E523DBF342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2E249B-EEF9-D6B7-8648-9341315FFD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7E644A-016F-4BB9-D905-182C72E4CB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CDCC11-3412-3A42-F6EE-24C55EB0F4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98DE24-898D-52EC-57D8-43505FA6137A}"/>
              </a:ext>
            </a:extLst>
          </p:cNvPr>
          <p:cNvSpPr>
            <a:spLocks noGrp="1"/>
          </p:cNvSpPr>
          <p:nvPr>
            <p:ph type="dt" sz="half" idx="10"/>
          </p:nvPr>
        </p:nvSpPr>
        <p:spPr/>
        <p:txBody>
          <a:bodyPr/>
          <a:lstStyle/>
          <a:p>
            <a:fld id="{82504B59-E39C-4384-9642-4778CB10BB58}" type="datetimeFigureOut">
              <a:rPr lang="en-US" smtClean="0"/>
              <a:t>10/6/2026</a:t>
            </a:fld>
            <a:endParaRPr lang="en-US"/>
          </a:p>
        </p:txBody>
      </p:sp>
      <p:sp>
        <p:nvSpPr>
          <p:cNvPr id="8" name="Footer Placeholder 7">
            <a:extLst>
              <a:ext uri="{FF2B5EF4-FFF2-40B4-BE49-F238E27FC236}">
                <a16:creationId xmlns:a16="http://schemas.microsoft.com/office/drawing/2014/main" id="{B859CB0E-0405-0620-9090-B131739BE91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9DBDED-02EF-C768-90EA-460BEDD09756}"/>
              </a:ext>
            </a:extLst>
          </p:cNvPr>
          <p:cNvSpPr>
            <a:spLocks noGrp="1"/>
          </p:cNvSpPr>
          <p:nvPr>
            <p:ph type="sldNum" sz="quarter" idx="12"/>
          </p:nvPr>
        </p:nvSpPr>
        <p:spPr/>
        <p:txBody>
          <a:bodyPr/>
          <a:lstStyle/>
          <a:p>
            <a:fld id="{F051908A-045C-4690-A6C2-9A4D36CC6B21}" type="slidenum">
              <a:rPr lang="en-US" smtClean="0"/>
              <a:t>‹#›</a:t>
            </a:fld>
            <a:endParaRPr lang="en-US"/>
          </a:p>
        </p:txBody>
      </p:sp>
    </p:spTree>
    <p:extLst>
      <p:ext uri="{BB962C8B-B14F-4D97-AF65-F5344CB8AC3E}">
        <p14:creationId xmlns:p14="http://schemas.microsoft.com/office/powerpoint/2010/main" val="3011947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8365-BAE1-D4AC-C3D3-7F336D4F2B9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741D3A-17FF-F5B4-629F-6E3D9FF32255}"/>
              </a:ext>
            </a:extLst>
          </p:cNvPr>
          <p:cNvSpPr>
            <a:spLocks noGrp="1"/>
          </p:cNvSpPr>
          <p:nvPr>
            <p:ph type="dt" sz="half" idx="10"/>
          </p:nvPr>
        </p:nvSpPr>
        <p:spPr/>
        <p:txBody>
          <a:bodyPr/>
          <a:lstStyle/>
          <a:p>
            <a:fld id="{82504B59-E39C-4384-9642-4778CB10BB58}" type="datetimeFigureOut">
              <a:rPr lang="en-US" smtClean="0"/>
              <a:t>10/6/2026</a:t>
            </a:fld>
            <a:endParaRPr lang="en-US"/>
          </a:p>
        </p:txBody>
      </p:sp>
      <p:sp>
        <p:nvSpPr>
          <p:cNvPr id="4" name="Footer Placeholder 3">
            <a:extLst>
              <a:ext uri="{FF2B5EF4-FFF2-40B4-BE49-F238E27FC236}">
                <a16:creationId xmlns:a16="http://schemas.microsoft.com/office/drawing/2014/main" id="{73FE03CD-1EDD-D027-28F1-E107B36AC0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0EB8DA-6FDB-887C-79AE-DD52FA5805B9}"/>
              </a:ext>
            </a:extLst>
          </p:cNvPr>
          <p:cNvSpPr>
            <a:spLocks noGrp="1"/>
          </p:cNvSpPr>
          <p:nvPr>
            <p:ph type="sldNum" sz="quarter" idx="12"/>
          </p:nvPr>
        </p:nvSpPr>
        <p:spPr/>
        <p:txBody>
          <a:bodyPr/>
          <a:lstStyle/>
          <a:p>
            <a:fld id="{F051908A-045C-4690-A6C2-9A4D36CC6B21}" type="slidenum">
              <a:rPr lang="en-US" smtClean="0"/>
              <a:t>‹#›</a:t>
            </a:fld>
            <a:endParaRPr lang="en-US"/>
          </a:p>
        </p:txBody>
      </p:sp>
    </p:spTree>
    <p:extLst>
      <p:ext uri="{BB962C8B-B14F-4D97-AF65-F5344CB8AC3E}">
        <p14:creationId xmlns:p14="http://schemas.microsoft.com/office/powerpoint/2010/main" val="1872450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8BFDD9-A767-21D1-B8F3-298C6714FB76}"/>
              </a:ext>
            </a:extLst>
          </p:cNvPr>
          <p:cNvSpPr>
            <a:spLocks noGrp="1"/>
          </p:cNvSpPr>
          <p:nvPr>
            <p:ph type="dt" sz="half" idx="10"/>
          </p:nvPr>
        </p:nvSpPr>
        <p:spPr/>
        <p:txBody>
          <a:bodyPr/>
          <a:lstStyle/>
          <a:p>
            <a:fld id="{82504B59-E39C-4384-9642-4778CB10BB58}" type="datetimeFigureOut">
              <a:rPr lang="en-US" smtClean="0"/>
              <a:t>10/6/2026</a:t>
            </a:fld>
            <a:endParaRPr lang="en-US"/>
          </a:p>
        </p:txBody>
      </p:sp>
      <p:sp>
        <p:nvSpPr>
          <p:cNvPr id="3" name="Footer Placeholder 2">
            <a:extLst>
              <a:ext uri="{FF2B5EF4-FFF2-40B4-BE49-F238E27FC236}">
                <a16:creationId xmlns:a16="http://schemas.microsoft.com/office/drawing/2014/main" id="{92D4E2CA-D963-DCA0-0FE6-8442E234B2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410F39-8BE9-F34C-0786-77062AE7B88C}"/>
              </a:ext>
            </a:extLst>
          </p:cNvPr>
          <p:cNvSpPr>
            <a:spLocks noGrp="1"/>
          </p:cNvSpPr>
          <p:nvPr>
            <p:ph type="sldNum" sz="quarter" idx="12"/>
          </p:nvPr>
        </p:nvSpPr>
        <p:spPr/>
        <p:txBody>
          <a:bodyPr/>
          <a:lstStyle/>
          <a:p>
            <a:fld id="{F051908A-045C-4690-A6C2-9A4D36CC6B21}" type="slidenum">
              <a:rPr lang="en-US" smtClean="0"/>
              <a:t>‹#›</a:t>
            </a:fld>
            <a:endParaRPr lang="en-US"/>
          </a:p>
        </p:txBody>
      </p:sp>
    </p:spTree>
    <p:extLst>
      <p:ext uri="{BB962C8B-B14F-4D97-AF65-F5344CB8AC3E}">
        <p14:creationId xmlns:p14="http://schemas.microsoft.com/office/powerpoint/2010/main" val="1248352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2E127-4BA9-3ECA-F8C7-F1BDA50BD7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C5223BC-6081-DA3C-387D-10EC26D4FA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54E945-E5BB-58E0-D50C-73534C5D85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5F9420-9F3E-062A-EEE5-4C86385558CD}"/>
              </a:ext>
            </a:extLst>
          </p:cNvPr>
          <p:cNvSpPr>
            <a:spLocks noGrp="1"/>
          </p:cNvSpPr>
          <p:nvPr>
            <p:ph type="dt" sz="half" idx="10"/>
          </p:nvPr>
        </p:nvSpPr>
        <p:spPr/>
        <p:txBody>
          <a:bodyPr/>
          <a:lstStyle/>
          <a:p>
            <a:fld id="{82504B59-E39C-4384-9642-4778CB10BB58}" type="datetimeFigureOut">
              <a:rPr lang="en-US" smtClean="0"/>
              <a:t>10/6/2026</a:t>
            </a:fld>
            <a:endParaRPr lang="en-US"/>
          </a:p>
        </p:txBody>
      </p:sp>
      <p:sp>
        <p:nvSpPr>
          <p:cNvPr id="6" name="Footer Placeholder 5">
            <a:extLst>
              <a:ext uri="{FF2B5EF4-FFF2-40B4-BE49-F238E27FC236}">
                <a16:creationId xmlns:a16="http://schemas.microsoft.com/office/drawing/2014/main" id="{FDA81AA5-FD18-0351-4C1D-8BB2D9B2E5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13B9FD-F9C0-AD54-B307-88F665DFF57E}"/>
              </a:ext>
            </a:extLst>
          </p:cNvPr>
          <p:cNvSpPr>
            <a:spLocks noGrp="1"/>
          </p:cNvSpPr>
          <p:nvPr>
            <p:ph type="sldNum" sz="quarter" idx="12"/>
          </p:nvPr>
        </p:nvSpPr>
        <p:spPr/>
        <p:txBody>
          <a:bodyPr/>
          <a:lstStyle/>
          <a:p>
            <a:fld id="{F051908A-045C-4690-A6C2-9A4D36CC6B21}" type="slidenum">
              <a:rPr lang="en-US" smtClean="0"/>
              <a:t>‹#›</a:t>
            </a:fld>
            <a:endParaRPr lang="en-US"/>
          </a:p>
        </p:txBody>
      </p:sp>
    </p:spTree>
    <p:extLst>
      <p:ext uri="{BB962C8B-B14F-4D97-AF65-F5344CB8AC3E}">
        <p14:creationId xmlns:p14="http://schemas.microsoft.com/office/powerpoint/2010/main" val="1965685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8828B-03D8-BA19-F97D-381C58FF5B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CD27D96-9FC1-8148-8163-E407C91166D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C6892C-02F4-C662-C0A9-E8E800348E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2F04EB-541E-62C9-D761-36D7A7676503}"/>
              </a:ext>
            </a:extLst>
          </p:cNvPr>
          <p:cNvSpPr>
            <a:spLocks noGrp="1"/>
          </p:cNvSpPr>
          <p:nvPr>
            <p:ph type="dt" sz="half" idx="10"/>
          </p:nvPr>
        </p:nvSpPr>
        <p:spPr/>
        <p:txBody>
          <a:bodyPr/>
          <a:lstStyle/>
          <a:p>
            <a:fld id="{82504B59-E39C-4384-9642-4778CB10BB58}" type="datetimeFigureOut">
              <a:rPr lang="en-US" smtClean="0"/>
              <a:t>10/6/2026</a:t>
            </a:fld>
            <a:endParaRPr lang="en-US"/>
          </a:p>
        </p:txBody>
      </p:sp>
      <p:sp>
        <p:nvSpPr>
          <p:cNvPr id="6" name="Footer Placeholder 5">
            <a:extLst>
              <a:ext uri="{FF2B5EF4-FFF2-40B4-BE49-F238E27FC236}">
                <a16:creationId xmlns:a16="http://schemas.microsoft.com/office/drawing/2014/main" id="{136BCD15-AA50-A79E-D06F-1845F6A096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AD4438-C7F6-A8B4-3D57-1AEB17C6B622}"/>
              </a:ext>
            </a:extLst>
          </p:cNvPr>
          <p:cNvSpPr>
            <a:spLocks noGrp="1"/>
          </p:cNvSpPr>
          <p:nvPr>
            <p:ph type="sldNum" sz="quarter" idx="12"/>
          </p:nvPr>
        </p:nvSpPr>
        <p:spPr/>
        <p:txBody>
          <a:bodyPr/>
          <a:lstStyle/>
          <a:p>
            <a:fld id="{F051908A-045C-4690-A6C2-9A4D36CC6B21}" type="slidenum">
              <a:rPr lang="en-US" smtClean="0"/>
              <a:t>‹#›</a:t>
            </a:fld>
            <a:endParaRPr lang="en-US"/>
          </a:p>
        </p:txBody>
      </p:sp>
    </p:spTree>
    <p:extLst>
      <p:ext uri="{BB962C8B-B14F-4D97-AF65-F5344CB8AC3E}">
        <p14:creationId xmlns:p14="http://schemas.microsoft.com/office/powerpoint/2010/main" val="791336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27155-CBD3-28F2-5889-DC63A8BA9B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53AE8D-A83C-F835-C11E-B7B9399A65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C0E653-B5A2-9679-A09B-AA9343DD78F9}"/>
              </a:ext>
            </a:extLst>
          </p:cNvPr>
          <p:cNvSpPr>
            <a:spLocks noGrp="1"/>
          </p:cNvSpPr>
          <p:nvPr>
            <p:ph type="dt" sz="half" idx="10"/>
          </p:nvPr>
        </p:nvSpPr>
        <p:spPr/>
        <p:txBody>
          <a:bodyPr/>
          <a:lstStyle/>
          <a:p>
            <a:fld id="{82504B59-E39C-4384-9642-4778CB10BB58}" type="datetimeFigureOut">
              <a:rPr lang="en-US" smtClean="0"/>
              <a:t>10/6/2026</a:t>
            </a:fld>
            <a:endParaRPr lang="en-US"/>
          </a:p>
        </p:txBody>
      </p:sp>
      <p:sp>
        <p:nvSpPr>
          <p:cNvPr id="5" name="Footer Placeholder 4">
            <a:extLst>
              <a:ext uri="{FF2B5EF4-FFF2-40B4-BE49-F238E27FC236}">
                <a16:creationId xmlns:a16="http://schemas.microsoft.com/office/drawing/2014/main" id="{D73D849C-445A-D916-C966-ADF8AF6435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F3B448-D640-A7C5-16E4-659435CF67DC}"/>
              </a:ext>
            </a:extLst>
          </p:cNvPr>
          <p:cNvSpPr>
            <a:spLocks noGrp="1"/>
          </p:cNvSpPr>
          <p:nvPr>
            <p:ph type="sldNum" sz="quarter" idx="12"/>
          </p:nvPr>
        </p:nvSpPr>
        <p:spPr/>
        <p:txBody>
          <a:bodyPr/>
          <a:lstStyle/>
          <a:p>
            <a:fld id="{F051908A-045C-4690-A6C2-9A4D36CC6B21}" type="slidenum">
              <a:rPr lang="en-US" smtClean="0"/>
              <a:t>‹#›</a:t>
            </a:fld>
            <a:endParaRPr lang="en-US"/>
          </a:p>
        </p:txBody>
      </p:sp>
    </p:spTree>
    <p:extLst>
      <p:ext uri="{BB962C8B-B14F-4D97-AF65-F5344CB8AC3E}">
        <p14:creationId xmlns:p14="http://schemas.microsoft.com/office/powerpoint/2010/main" val="2632846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A0E68E-161D-0E34-224A-1372F70B4A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03B678-089C-071C-1AE7-F51DF0D78F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AEC9D6-B53A-2D36-7EC1-1F9742749043}"/>
              </a:ext>
            </a:extLst>
          </p:cNvPr>
          <p:cNvSpPr>
            <a:spLocks noGrp="1"/>
          </p:cNvSpPr>
          <p:nvPr>
            <p:ph type="dt" sz="half" idx="10"/>
          </p:nvPr>
        </p:nvSpPr>
        <p:spPr/>
        <p:txBody>
          <a:bodyPr/>
          <a:lstStyle/>
          <a:p>
            <a:fld id="{82504B59-E39C-4384-9642-4778CB10BB58}" type="datetimeFigureOut">
              <a:rPr lang="en-US" smtClean="0"/>
              <a:t>10/6/2026</a:t>
            </a:fld>
            <a:endParaRPr lang="en-US"/>
          </a:p>
        </p:txBody>
      </p:sp>
      <p:sp>
        <p:nvSpPr>
          <p:cNvPr id="5" name="Footer Placeholder 4">
            <a:extLst>
              <a:ext uri="{FF2B5EF4-FFF2-40B4-BE49-F238E27FC236}">
                <a16:creationId xmlns:a16="http://schemas.microsoft.com/office/drawing/2014/main" id="{1EF237BD-4E73-80A4-9914-8F0541B84F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6C9A9C-F64C-F715-6A4B-545B15E4E182}"/>
              </a:ext>
            </a:extLst>
          </p:cNvPr>
          <p:cNvSpPr>
            <a:spLocks noGrp="1"/>
          </p:cNvSpPr>
          <p:nvPr>
            <p:ph type="sldNum" sz="quarter" idx="12"/>
          </p:nvPr>
        </p:nvSpPr>
        <p:spPr/>
        <p:txBody>
          <a:bodyPr/>
          <a:lstStyle/>
          <a:p>
            <a:fld id="{F051908A-045C-4690-A6C2-9A4D36CC6B21}" type="slidenum">
              <a:rPr lang="en-US" smtClean="0"/>
              <a:t>‹#›</a:t>
            </a:fld>
            <a:endParaRPr lang="en-US"/>
          </a:p>
        </p:txBody>
      </p:sp>
    </p:spTree>
    <p:extLst>
      <p:ext uri="{BB962C8B-B14F-4D97-AF65-F5344CB8AC3E}">
        <p14:creationId xmlns:p14="http://schemas.microsoft.com/office/powerpoint/2010/main" val="934576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CD31E9-0953-12B6-B30D-D6D8960C31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532CF2-B62E-2E3C-3B5D-1F18663729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A3C9D0-F7D1-4DC1-C26F-9BF574D4B6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504B59-E39C-4384-9642-4778CB10BB58}" type="datetimeFigureOut">
              <a:rPr lang="en-US" smtClean="0"/>
              <a:t>10/6/2026</a:t>
            </a:fld>
            <a:endParaRPr lang="en-US"/>
          </a:p>
        </p:txBody>
      </p:sp>
      <p:sp>
        <p:nvSpPr>
          <p:cNvPr id="5" name="Footer Placeholder 4">
            <a:extLst>
              <a:ext uri="{FF2B5EF4-FFF2-40B4-BE49-F238E27FC236}">
                <a16:creationId xmlns:a16="http://schemas.microsoft.com/office/drawing/2014/main" id="{13F04CC3-7CEE-F112-F547-E6B0A9FD0E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1A47C35-2EE2-6856-6759-46619FA3A2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51908A-045C-4690-A6C2-9A4D36CC6B21}" type="slidenum">
              <a:rPr lang="en-US" smtClean="0"/>
              <a:t>‹#›</a:t>
            </a:fld>
            <a:endParaRPr lang="en-US"/>
          </a:p>
        </p:txBody>
      </p:sp>
    </p:spTree>
    <p:extLst>
      <p:ext uri="{BB962C8B-B14F-4D97-AF65-F5344CB8AC3E}">
        <p14:creationId xmlns:p14="http://schemas.microsoft.com/office/powerpoint/2010/main" val="447487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B58AC7-4D8C-5C94-2A7D-2B1917857CB2}"/>
              </a:ext>
            </a:extLst>
          </p:cNvPr>
          <p:cNvSpPr txBox="1"/>
          <p:nvPr/>
        </p:nvSpPr>
        <p:spPr>
          <a:xfrm>
            <a:off x="508000" y="762000"/>
            <a:ext cx="15494000" cy="738664"/>
          </a:xfrm>
          <a:prstGeom prst="rect">
            <a:avLst/>
          </a:prstGeom>
          <a:noFill/>
        </p:spPr>
        <p:txBody>
          <a:bodyPr vert="horz" rtlCol="0">
            <a:spAutoFit/>
          </a:bodyPr>
          <a:lstStyle/>
          <a:p>
            <a:r>
              <a:rPr lang="en-US" sz="4200" b="1"/>
              <a:t>CodegenAI</a:t>
            </a:r>
          </a:p>
        </p:txBody>
      </p:sp>
      <p:sp>
        <p:nvSpPr>
          <p:cNvPr id="3" name="TextBox 2">
            <a:extLst>
              <a:ext uri="{FF2B5EF4-FFF2-40B4-BE49-F238E27FC236}">
                <a16:creationId xmlns:a16="http://schemas.microsoft.com/office/drawing/2014/main" id="{4EFFB22A-AB76-074E-17E4-462FFD958DE9}"/>
              </a:ext>
            </a:extLst>
          </p:cNvPr>
          <p:cNvSpPr txBox="1"/>
          <p:nvPr/>
        </p:nvSpPr>
        <p:spPr>
          <a:xfrm>
            <a:off x="508000" y="2032000"/>
            <a:ext cx="15494000" cy="461665"/>
          </a:xfrm>
          <a:prstGeom prst="rect">
            <a:avLst/>
          </a:prstGeom>
          <a:noFill/>
        </p:spPr>
        <p:txBody>
          <a:bodyPr vert="horz" rtlCol="0">
            <a:spAutoFit/>
          </a:bodyPr>
          <a:lstStyle/>
          <a:p>
            <a:r>
              <a:rPr lang="en-US" sz="2400"/>
              <a:t>AI-assisted test automation: record once, generate framework code</a:t>
            </a:r>
          </a:p>
        </p:txBody>
      </p:sp>
    </p:spTree>
    <p:extLst>
      <p:ext uri="{BB962C8B-B14F-4D97-AF65-F5344CB8AC3E}">
        <p14:creationId xmlns:p14="http://schemas.microsoft.com/office/powerpoint/2010/main" val="3699569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28ABC-C750-A5FD-B729-142BC0A1AA0F}"/>
              </a:ext>
            </a:extLst>
          </p:cNvPr>
          <p:cNvSpPr txBox="1"/>
          <p:nvPr/>
        </p:nvSpPr>
        <p:spPr>
          <a:xfrm>
            <a:off x="381000" y="254000"/>
            <a:ext cx="16002000" cy="553998"/>
          </a:xfrm>
          <a:prstGeom prst="rect">
            <a:avLst/>
          </a:prstGeom>
          <a:noFill/>
        </p:spPr>
        <p:txBody>
          <a:bodyPr vert="horz" rtlCol="0">
            <a:spAutoFit/>
          </a:bodyPr>
          <a:lstStyle/>
          <a:p>
            <a:r>
              <a:rPr lang="en-US" sz="3000" b="1"/>
              <a:t>CodegenAI (Part 1)</a:t>
            </a:r>
          </a:p>
        </p:txBody>
      </p:sp>
      <p:sp>
        <p:nvSpPr>
          <p:cNvPr id="3" name="TextBox 2">
            <a:extLst>
              <a:ext uri="{FF2B5EF4-FFF2-40B4-BE49-F238E27FC236}">
                <a16:creationId xmlns:a16="http://schemas.microsoft.com/office/drawing/2014/main" id="{F1341E40-1A77-C09D-B9FD-96DFC9321E1F}"/>
              </a:ext>
            </a:extLst>
          </p:cNvPr>
          <p:cNvSpPr txBox="1"/>
          <p:nvPr/>
        </p:nvSpPr>
        <p:spPr>
          <a:xfrm>
            <a:off x="508000" y="1270000"/>
            <a:ext cx="15494000" cy="923330"/>
          </a:xfrm>
          <a:prstGeom prst="rect">
            <a:avLst/>
          </a:prstGeom>
          <a:noFill/>
        </p:spPr>
        <p:txBody>
          <a:bodyPr vert="horz" rtlCol="0">
            <a:spAutoFit/>
          </a:bodyPr>
          <a:lstStyle/>
          <a:p>
            <a:pPr marL="342900" indent="-342900">
              <a:buFont typeface="+mj-lt"/>
              <a:buAutoNum type="arabicPeriod"/>
            </a:pPr>
            <a:r>
              <a:rPr lang="en-US"/>
              <a:t>AI-assisted test automation: record once, generate framework code</a:t>
            </a:r>
          </a:p>
          <a:p>
            <a:pPr marL="342900" indent="-342900">
              <a:buFont typeface="+mj-lt"/>
              <a:buAutoNum type="arabicPeriod"/>
            </a:pPr>
            <a:r>
              <a:rPr lang="en-US"/>
              <a:t>Team Knowledge-Transfer Guide</a:t>
            </a:r>
          </a:p>
          <a:p>
            <a:pPr marL="342900" indent="-342900">
              <a:buFont typeface="+mj-lt"/>
              <a:buAutoNum type="arabicPeriod"/>
            </a:pPr>
            <a:r>
              <a:rPr lang="en-US"/>
              <a:t>Structure  |  How to use  |  What runs in the background  |  File-by-file reference  |  How to build it yourself  |  Interview preparation</a:t>
            </a:r>
          </a:p>
        </p:txBody>
      </p:sp>
    </p:spTree>
    <p:extLst>
      <p:ext uri="{BB962C8B-B14F-4D97-AF65-F5344CB8AC3E}">
        <p14:creationId xmlns:p14="http://schemas.microsoft.com/office/powerpoint/2010/main" val="2050222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DE333D-0A79-6CA8-0150-CFF13CD0202F}"/>
              </a:ext>
            </a:extLst>
          </p:cNvPr>
          <p:cNvSpPr txBox="1"/>
          <p:nvPr/>
        </p:nvSpPr>
        <p:spPr>
          <a:xfrm>
            <a:off x="381000" y="254000"/>
            <a:ext cx="16002000" cy="553998"/>
          </a:xfrm>
          <a:prstGeom prst="rect">
            <a:avLst/>
          </a:prstGeom>
          <a:noFill/>
        </p:spPr>
        <p:txBody>
          <a:bodyPr vert="horz" rtlCol="0">
            <a:spAutoFit/>
          </a:bodyPr>
          <a:lstStyle/>
          <a:p>
            <a:r>
              <a:rPr lang="en-US" sz="3000" b="1"/>
              <a:t>Who this is for (Part 1)</a:t>
            </a:r>
          </a:p>
        </p:txBody>
      </p:sp>
      <p:sp>
        <p:nvSpPr>
          <p:cNvPr id="3" name="TextBox 2">
            <a:extLst>
              <a:ext uri="{FF2B5EF4-FFF2-40B4-BE49-F238E27FC236}">
                <a16:creationId xmlns:a16="http://schemas.microsoft.com/office/drawing/2014/main" id="{24B295B7-24DB-43CB-7C93-29D11E44BB45}"/>
              </a:ext>
            </a:extLst>
          </p:cNvPr>
          <p:cNvSpPr txBox="1"/>
          <p:nvPr/>
        </p:nvSpPr>
        <p:spPr>
          <a:xfrm>
            <a:off x="508000" y="1270000"/>
            <a:ext cx="15494000" cy="646331"/>
          </a:xfrm>
          <a:prstGeom prst="rect">
            <a:avLst/>
          </a:prstGeom>
          <a:noFill/>
        </p:spPr>
        <p:txBody>
          <a:bodyPr vert="horz" rtlCol="0">
            <a:spAutoFit/>
          </a:bodyPr>
          <a:lstStyle/>
          <a:p>
            <a:pPr marL="342900" indent="-342900">
              <a:buFont typeface="+mj-lt"/>
              <a:buAutoNum type="arabicPeriod"/>
            </a:pPr>
            <a:r>
              <a:rPr lang="en-US"/>
              <a:t>QA and automation engineers who need to use, maintain or rebuild the CodegenAI setup. Tech stack: Playwright codegen, PowerShell, Node.js (.cjs scripts), C# Playwright framework (SpecFlow / xUnit, Page Object Model) and GitHub Copilot agent.</a:t>
            </a:r>
          </a:p>
        </p:txBody>
      </p:sp>
    </p:spTree>
    <p:extLst>
      <p:ext uri="{BB962C8B-B14F-4D97-AF65-F5344CB8AC3E}">
        <p14:creationId xmlns:p14="http://schemas.microsoft.com/office/powerpoint/2010/main" val="4245189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164220-FD48-1441-B9F0-E7A39ADBF27C}"/>
              </a:ext>
            </a:extLst>
          </p:cNvPr>
          <p:cNvSpPr txBox="1"/>
          <p:nvPr/>
        </p:nvSpPr>
        <p:spPr>
          <a:xfrm>
            <a:off x="381000" y="254000"/>
            <a:ext cx="16002000" cy="553998"/>
          </a:xfrm>
          <a:prstGeom prst="rect">
            <a:avLst/>
          </a:prstGeom>
          <a:noFill/>
        </p:spPr>
        <p:txBody>
          <a:bodyPr vert="horz" rtlCol="0">
            <a:spAutoFit/>
          </a:bodyPr>
          <a:lstStyle/>
          <a:p>
            <a:r>
              <a:rPr lang="en-US" sz="3000" b="1"/>
              <a:t>1. What problem does CodegenAI solve? (Part 1)</a:t>
            </a:r>
          </a:p>
        </p:txBody>
      </p:sp>
      <p:sp>
        <p:nvSpPr>
          <p:cNvPr id="3" name="TextBox 2">
            <a:extLst>
              <a:ext uri="{FF2B5EF4-FFF2-40B4-BE49-F238E27FC236}">
                <a16:creationId xmlns:a16="http://schemas.microsoft.com/office/drawing/2014/main" id="{9FA11F5F-36E5-EE11-088C-CF71B05103BF}"/>
              </a:ext>
            </a:extLst>
          </p:cNvPr>
          <p:cNvSpPr txBox="1"/>
          <p:nvPr/>
        </p:nvSpPr>
        <p:spPr>
          <a:xfrm>
            <a:off x="508000" y="1270000"/>
            <a:ext cx="15494000" cy="369332"/>
          </a:xfrm>
          <a:prstGeom prst="rect">
            <a:avLst/>
          </a:prstGeom>
          <a:noFill/>
        </p:spPr>
        <p:txBody>
          <a:bodyPr vert="horz" rtlCol="0">
            <a:spAutoFit/>
          </a:bodyPr>
          <a:lstStyle/>
          <a:p>
            <a:pPr marL="342900" indent="-342900">
              <a:buFont typeface="+mj-lt"/>
              <a:buAutoNum type="arabicPeriod"/>
            </a:pPr>
            <a:r>
              <a:rPr lang="en-US"/>
              <a:t>1.1 The two layers</a:t>
            </a:r>
          </a:p>
        </p:txBody>
      </p:sp>
    </p:spTree>
    <p:extLst>
      <p:ext uri="{BB962C8B-B14F-4D97-AF65-F5344CB8AC3E}">
        <p14:creationId xmlns:p14="http://schemas.microsoft.com/office/powerpoint/2010/main" val="1374981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3B820C-E8E2-BB06-4930-1EEC85DB2F1D}"/>
              </a:ext>
            </a:extLst>
          </p:cNvPr>
          <p:cNvSpPr txBox="1"/>
          <p:nvPr/>
        </p:nvSpPr>
        <p:spPr>
          <a:xfrm>
            <a:off x="381000" y="254000"/>
            <a:ext cx="16002000" cy="553998"/>
          </a:xfrm>
          <a:prstGeom prst="rect">
            <a:avLst/>
          </a:prstGeom>
          <a:noFill/>
        </p:spPr>
        <p:txBody>
          <a:bodyPr vert="horz" rtlCol="0">
            <a:spAutoFit/>
          </a:bodyPr>
          <a:lstStyle/>
          <a:p>
            <a:r>
              <a:rPr lang="en-US" sz="3000" b="1"/>
              <a:t>2. How to use it (daily workflow) (Part 1)</a:t>
            </a:r>
          </a:p>
        </p:txBody>
      </p:sp>
      <p:sp>
        <p:nvSpPr>
          <p:cNvPr id="3" name="TextBox 2">
            <a:extLst>
              <a:ext uri="{FF2B5EF4-FFF2-40B4-BE49-F238E27FC236}">
                <a16:creationId xmlns:a16="http://schemas.microsoft.com/office/drawing/2014/main" id="{3A3508CE-7DCA-3B1F-49E3-4AEF3BE683B1}"/>
              </a:ext>
            </a:extLst>
          </p:cNvPr>
          <p:cNvSpPr txBox="1"/>
          <p:nvPr/>
        </p:nvSpPr>
        <p:spPr>
          <a:xfrm>
            <a:off x="508000" y="1270000"/>
            <a:ext cx="15494000" cy="923330"/>
          </a:xfrm>
          <a:prstGeom prst="rect">
            <a:avLst/>
          </a:prstGeom>
          <a:noFill/>
        </p:spPr>
        <p:txBody>
          <a:bodyPr vert="horz" rtlCol="0">
            <a:spAutoFit/>
          </a:bodyPr>
          <a:lstStyle/>
          <a:p>
            <a:pPr marL="342900" indent="-342900">
              <a:buFont typeface="+mj-lt"/>
              <a:buAutoNum type="arabicPeriod"/>
            </a:pPr>
            <a:r>
              <a:rPr lang="en-US"/>
              <a:t>2.1 Step by step</a:t>
            </a:r>
          </a:p>
          <a:p>
            <a:pPr marL="342900" indent="-342900">
              <a:buFont typeface="+mj-lt"/>
              <a:buAutoNum type="arabicPeriod"/>
            </a:pPr>
            <a:r>
              <a:rPr lang="en-US"/>
              <a:t>2.2 The prompt you give the agent</a:t>
            </a:r>
          </a:p>
          <a:p>
            <a:pPr marL="342900" indent="-342900">
              <a:buFont typeface="+mj-lt"/>
              <a:buAutoNum type="arabicPeriod"/>
            </a:pPr>
            <a:r>
              <a:rPr lang="en-US"/>
              <a:t>2.3 Script switches</a:t>
            </a:r>
          </a:p>
        </p:txBody>
      </p:sp>
    </p:spTree>
    <p:extLst>
      <p:ext uri="{BB962C8B-B14F-4D97-AF65-F5344CB8AC3E}">
        <p14:creationId xmlns:p14="http://schemas.microsoft.com/office/powerpoint/2010/main" val="1104146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FB4943-AF8F-4922-80AC-E6ACCF574566}"/>
              </a:ext>
            </a:extLst>
          </p:cNvPr>
          <p:cNvSpPr txBox="1"/>
          <p:nvPr/>
        </p:nvSpPr>
        <p:spPr>
          <a:xfrm>
            <a:off x="381000" y="254000"/>
            <a:ext cx="16002000" cy="553998"/>
          </a:xfrm>
          <a:prstGeom prst="rect">
            <a:avLst/>
          </a:prstGeom>
          <a:noFill/>
        </p:spPr>
        <p:txBody>
          <a:bodyPr vert="horz" rtlCol="0">
            <a:spAutoFit/>
          </a:bodyPr>
          <a:lstStyle/>
          <a:p>
            <a:r>
              <a:rPr lang="en-US" sz="3000" b="1"/>
              <a:t>3. What runs in the background (Part 1)</a:t>
            </a:r>
          </a:p>
        </p:txBody>
      </p:sp>
      <p:sp>
        <p:nvSpPr>
          <p:cNvPr id="3" name="TextBox 2">
            <a:extLst>
              <a:ext uri="{FF2B5EF4-FFF2-40B4-BE49-F238E27FC236}">
                <a16:creationId xmlns:a16="http://schemas.microsoft.com/office/drawing/2014/main" id="{ED03CD4E-BBA9-CF41-6B86-8404963E1BA8}"/>
              </a:ext>
            </a:extLst>
          </p:cNvPr>
          <p:cNvSpPr txBox="1"/>
          <p:nvPr/>
        </p:nvSpPr>
        <p:spPr>
          <a:xfrm>
            <a:off x="508000" y="1270000"/>
            <a:ext cx="15494000" cy="1200329"/>
          </a:xfrm>
          <a:prstGeom prst="rect">
            <a:avLst/>
          </a:prstGeom>
          <a:noFill/>
        </p:spPr>
        <p:txBody>
          <a:bodyPr vert="horz" rtlCol="0">
            <a:spAutoFit/>
          </a:bodyPr>
          <a:lstStyle/>
          <a:p>
            <a:pPr marL="342900" indent="-342900">
              <a:buFont typeface="+mj-lt"/>
              <a:buAutoNum type="arabicPeriod"/>
            </a:pPr>
            <a:r>
              <a:rPr lang="en-US"/>
              <a:t>3.1 Timeline</a:t>
            </a:r>
          </a:p>
          <a:p>
            <a:pPr marL="342900" indent="-342900">
              <a:buFont typeface="+mj-lt"/>
              <a:buAutoNum type="arabicPeriod"/>
            </a:pPr>
            <a:r>
              <a:rPr lang="en-US"/>
              <a:t>3.2 Why each background step exists</a:t>
            </a:r>
          </a:p>
          <a:p>
            <a:pPr marL="342900" indent="-342900">
              <a:buFont typeface="+mj-lt"/>
              <a:buAutoNum type="arabicPeriod"/>
            </a:pPr>
            <a:r>
              <a:rPr lang="en-US"/>
              <a:t>3.3 What the Copilot agent does after your prompt</a:t>
            </a:r>
          </a:p>
          <a:p>
            <a:pPr marL="342900" indent="-342900">
              <a:buFont typeface="+mj-lt"/>
              <a:buAutoNum type="arabicPeriod"/>
            </a:pPr>
            <a:r>
              <a:rPr lang="en-US"/>
              <a:t>3.4 Optional follow-up prompts (after the first generation)</a:t>
            </a:r>
          </a:p>
        </p:txBody>
      </p:sp>
    </p:spTree>
    <p:extLst>
      <p:ext uri="{BB962C8B-B14F-4D97-AF65-F5344CB8AC3E}">
        <p14:creationId xmlns:p14="http://schemas.microsoft.com/office/powerpoint/2010/main" val="3692220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167404-007C-99F0-4086-470AFE7C60AB}"/>
              </a:ext>
            </a:extLst>
          </p:cNvPr>
          <p:cNvSpPr txBox="1"/>
          <p:nvPr/>
        </p:nvSpPr>
        <p:spPr>
          <a:xfrm>
            <a:off x="381000" y="254000"/>
            <a:ext cx="16002000" cy="553998"/>
          </a:xfrm>
          <a:prstGeom prst="rect">
            <a:avLst/>
          </a:prstGeom>
          <a:noFill/>
        </p:spPr>
        <p:txBody>
          <a:bodyPr vert="horz" rtlCol="0">
            <a:spAutoFit/>
          </a:bodyPr>
          <a:lstStyle/>
          <a:p>
            <a:r>
              <a:rPr lang="en-US" sz="3000" b="1"/>
              <a:t>5. File-by-file reference (active files) (Part 1)</a:t>
            </a:r>
          </a:p>
        </p:txBody>
      </p:sp>
      <p:sp>
        <p:nvSpPr>
          <p:cNvPr id="3" name="TextBox 2">
            <a:extLst>
              <a:ext uri="{FF2B5EF4-FFF2-40B4-BE49-F238E27FC236}">
                <a16:creationId xmlns:a16="http://schemas.microsoft.com/office/drawing/2014/main" id="{DBAB38DE-FE16-9953-5D1E-FB3EF34C547A}"/>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5.1 Root folder</a:t>
            </a:r>
          </a:p>
          <a:p>
            <a:pPr marL="342900" indent="-342900">
              <a:buFont typeface="+mj-lt"/>
              <a:buAutoNum type="arabicPeriod"/>
            </a:pPr>
            <a:r>
              <a:rPr lang="en-US"/>
              <a:t>5.2 AIRecorder/auth - session handling</a:t>
            </a:r>
          </a:p>
          <a:p>
            <a:pPr marL="342900" indent="-342900">
              <a:buFont typeface="+mj-lt"/>
              <a:buAutoNum type="arabicPeriod"/>
            </a:pPr>
            <a:r>
              <a:rPr lang="en-US"/>
              <a:t>5.3 AIRecorder/Intelligence - observe and improve locators</a:t>
            </a:r>
          </a:p>
          <a:p>
            <a:pPr marL="342900" indent="-342900">
              <a:buFont typeface="+mj-lt"/>
              <a:buAutoNum type="arabicPeriod"/>
            </a:pPr>
            <a:r>
              <a:rPr lang="en-US"/>
              <a:t>5.4 AIRecorder/Generator - TypeScript to C#</a:t>
            </a:r>
          </a:p>
          <a:p>
            <a:pPr marL="342900" indent="-342900">
              <a:buFont typeface="+mj-lt"/>
              <a:buAutoNum type="arabicPeriod"/>
            </a:pPr>
            <a:r>
              <a:rPr lang="en-US"/>
              <a:t>5.5 AIRecorder/Debug - failure analysis engine</a:t>
            </a:r>
          </a:p>
          <a:p>
            <a:pPr marL="342900" indent="-342900">
              <a:buFont typeface="+mj-lt"/>
              <a:buAutoNum type="arabicPeriod"/>
            </a:pPr>
            <a:r>
              <a:rPr lang="en-US"/>
              <a:t>5.6 Prompt and rule files</a:t>
            </a:r>
          </a:p>
          <a:p>
            <a:pPr marL="342900" indent="-342900">
              <a:buFont typeface="+mj-lt"/>
              <a:buAutoNum type="arabicPeriod"/>
            </a:pPr>
            <a:r>
              <a:rPr lang="en-US"/>
              <a:t>5.7 Generated and data files</a:t>
            </a:r>
          </a:p>
        </p:txBody>
      </p:sp>
    </p:spTree>
    <p:extLst>
      <p:ext uri="{BB962C8B-B14F-4D97-AF65-F5344CB8AC3E}">
        <p14:creationId xmlns:p14="http://schemas.microsoft.com/office/powerpoint/2010/main" val="2310972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BF5CB6-9198-C783-D7C1-1096E950FD3D}"/>
              </a:ext>
            </a:extLst>
          </p:cNvPr>
          <p:cNvSpPr txBox="1"/>
          <p:nvPr/>
        </p:nvSpPr>
        <p:spPr>
          <a:xfrm>
            <a:off x="381000" y="254000"/>
            <a:ext cx="16002000" cy="553998"/>
          </a:xfrm>
          <a:prstGeom prst="rect">
            <a:avLst/>
          </a:prstGeom>
          <a:noFill/>
        </p:spPr>
        <p:txBody>
          <a:bodyPr vert="horz" rtlCol="0">
            <a:spAutoFit/>
          </a:bodyPr>
          <a:lstStyle/>
          <a:p>
            <a:r>
              <a:rPr lang="en-US" sz="3000" b="1"/>
              <a:t>6. Worked example from the sample run (Part 2)</a:t>
            </a:r>
          </a:p>
        </p:txBody>
      </p:sp>
      <p:sp>
        <p:nvSpPr>
          <p:cNvPr id="3" name="TextBox 2">
            <a:extLst>
              <a:ext uri="{FF2B5EF4-FFF2-40B4-BE49-F238E27FC236}">
                <a16:creationId xmlns:a16="http://schemas.microsoft.com/office/drawing/2014/main" id="{790FEFC2-5784-DA9E-147B-96BF6A53044D}"/>
              </a:ext>
            </a:extLst>
          </p:cNvPr>
          <p:cNvSpPr txBox="1"/>
          <p:nvPr/>
        </p:nvSpPr>
        <p:spPr>
          <a:xfrm>
            <a:off x="508000" y="1270000"/>
            <a:ext cx="15494000" cy="1200329"/>
          </a:xfrm>
          <a:prstGeom prst="rect">
            <a:avLst/>
          </a:prstGeom>
          <a:noFill/>
        </p:spPr>
        <p:txBody>
          <a:bodyPr vert="horz" rtlCol="0">
            <a:spAutoFit/>
          </a:bodyPr>
          <a:lstStyle/>
          <a:p>
            <a:pPr marL="342900" indent="-342900">
              <a:buFont typeface="+mj-lt"/>
              <a:buAutoNum type="arabicPeriod"/>
            </a:pPr>
            <a:r>
              <a:rPr lang="en-US"/>
              <a:t>6.1 Locator rewrite inside a table</a:t>
            </a:r>
          </a:p>
          <a:p>
            <a:pPr marL="342900" indent="-342900">
              <a:buFont typeface="+mj-lt"/>
              <a:buAutoNum type="arabicPeriod"/>
            </a:pPr>
            <a:r>
              <a:rPr lang="en-US"/>
              <a:t>6.2 TypeScript line to C# statements</a:t>
            </a:r>
          </a:p>
          <a:p>
            <a:pPr marL="342900" indent="-342900">
              <a:buFont typeface="+mj-lt"/>
              <a:buAutoNum type="arabicPeriod"/>
            </a:pPr>
            <a:r>
              <a:rPr lang="en-US"/>
              <a:t>6.3 Enterprise mode: long flow split into methods</a:t>
            </a:r>
          </a:p>
          <a:p>
            <a:pPr marL="342900" indent="-342900">
              <a:buFont typeface="+mj-lt"/>
              <a:buAutoNum type="arabicPeriod"/>
            </a:pPr>
            <a:r>
              <a:rPr lang="en-US"/>
              <a:t>6.4 Things the review comments tell you</a:t>
            </a:r>
          </a:p>
        </p:txBody>
      </p:sp>
    </p:spTree>
    <p:extLst>
      <p:ext uri="{BB962C8B-B14F-4D97-AF65-F5344CB8AC3E}">
        <p14:creationId xmlns:p14="http://schemas.microsoft.com/office/powerpoint/2010/main" val="2557789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B79A33-AF07-A676-E2F6-9870F53ABF95}"/>
              </a:ext>
            </a:extLst>
          </p:cNvPr>
          <p:cNvSpPr txBox="1"/>
          <p:nvPr/>
        </p:nvSpPr>
        <p:spPr>
          <a:xfrm>
            <a:off x="381000" y="254000"/>
            <a:ext cx="16002000" cy="553998"/>
          </a:xfrm>
          <a:prstGeom prst="rect">
            <a:avLst/>
          </a:prstGeom>
          <a:noFill/>
        </p:spPr>
        <p:txBody>
          <a:bodyPr vert="horz" rtlCol="0">
            <a:spAutoFit/>
          </a:bodyPr>
          <a:lstStyle/>
          <a:p>
            <a:r>
              <a:rPr lang="en-US" sz="3000" b="1"/>
              <a:t>10. Interview preparation (Part 1)</a:t>
            </a:r>
          </a:p>
        </p:txBody>
      </p:sp>
      <p:sp>
        <p:nvSpPr>
          <p:cNvPr id="3" name="TextBox 2">
            <a:extLst>
              <a:ext uri="{FF2B5EF4-FFF2-40B4-BE49-F238E27FC236}">
                <a16:creationId xmlns:a16="http://schemas.microsoft.com/office/drawing/2014/main" id="{CD6BF307-D5A8-1B89-93B5-C581319D5674}"/>
              </a:ext>
            </a:extLst>
          </p:cNvPr>
          <p:cNvSpPr txBox="1"/>
          <p:nvPr/>
        </p:nvSpPr>
        <p:spPr>
          <a:xfrm>
            <a:off x="508000" y="1270000"/>
            <a:ext cx="15494000" cy="646331"/>
          </a:xfrm>
          <a:prstGeom prst="rect">
            <a:avLst/>
          </a:prstGeom>
          <a:noFill/>
        </p:spPr>
        <p:txBody>
          <a:bodyPr vert="horz" rtlCol="0">
            <a:spAutoFit/>
          </a:bodyPr>
          <a:lstStyle/>
          <a:p>
            <a:pPr marL="342900" indent="-342900">
              <a:buFont typeface="+mj-lt"/>
              <a:buAutoNum type="arabicPeriod"/>
            </a:pPr>
            <a:r>
              <a:rPr lang="fr-FR"/>
              <a:t>10.1 Project questions</a:t>
            </a:r>
          </a:p>
          <a:p>
            <a:pPr marL="342900" indent="-342900">
              <a:buFont typeface="+mj-lt"/>
              <a:buAutoNum type="arabicPeriod"/>
            </a:pPr>
            <a:r>
              <a:rPr lang="fr-FR"/>
              <a:t>10.2 General automation questions</a:t>
            </a:r>
            <a:endParaRPr lang="en-US"/>
          </a:p>
        </p:txBody>
      </p:sp>
    </p:spTree>
    <p:extLst>
      <p:ext uri="{BB962C8B-B14F-4D97-AF65-F5344CB8AC3E}">
        <p14:creationId xmlns:p14="http://schemas.microsoft.com/office/powerpoint/2010/main" val="3748658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F0959F-9614-35D7-B80A-0A77FB26E653}"/>
              </a:ext>
            </a:extLst>
          </p:cNvPr>
          <p:cNvSpPr txBox="1"/>
          <p:nvPr/>
        </p:nvSpPr>
        <p:spPr>
          <a:xfrm>
            <a:off x="381000" y="254000"/>
            <a:ext cx="16002000" cy="553998"/>
          </a:xfrm>
          <a:prstGeom prst="rect">
            <a:avLst/>
          </a:prstGeom>
          <a:noFill/>
        </p:spPr>
        <p:txBody>
          <a:bodyPr vert="horz" rtlCol="0">
            <a:spAutoFit/>
          </a:bodyPr>
          <a:lstStyle/>
          <a:p>
            <a:r>
              <a:rPr lang="en-US" sz="3000" b="1"/>
              <a:t>1. What problem does CodegenAI solve? (Part 1)</a:t>
            </a:r>
          </a:p>
        </p:txBody>
      </p:sp>
      <p:sp>
        <p:nvSpPr>
          <p:cNvPr id="3" name="TextBox 2">
            <a:extLst>
              <a:ext uri="{FF2B5EF4-FFF2-40B4-BE49-F238E27FC236}">
                <a16:creationId xmlns:a16="http://schemas.microsoft.com/office/drawing/2014/main" id="{8C365D54-4F67-82EE-005C-897BA45DBB9D}"/>
              </a:ext>
            </a:extLst>
          </p:cNvPr>
          <p:cNvSpPr txBox="1"/>
          <p:nvPr/>
        </p:nvSpPr>
        <p:spPr>
          <a:xfrm>
            <a:off x="508000" y="1270000"/>
            <a:ext cx="15494000" cy="646331"/>
          </a:xfrm>
          <a:prstGeom prst="rect">
            <a:avLst/>
          </a:prstGeom>
          <a:noFill/>
        </p:spPr>
        <p:txBody>
          <a:bodyPr vert="horz" rtlCol="0">
            <a:spAutoFit/>
          </a:bodyPr>
          <a:lstStyle/>
          <a:p>
            <a:pPr marL="342900" indent="-342900">
              <a:buFont typeface="+mj-lt"/>
              <a:buAutoNum type="arabicPeriod"/>
            </a:pPr>
            <a:r>
              <a:rPr lang="en-US"/>
              <a:t>Writing UI automation by hand is slow: you inspect each element, write locators, write page methods, write step definitions and a feature file, then fix duplicates and flaky waits. CodegenAI shortens this to three actions:</a:t>
            </a:r>
          </a:p>
        </p:txBody>
      </p:sp>
    </p:spTree>
    <p:extLst>
      <p:ext uri="{BB962C8B-B14F-4D97-AF65-F5344CB8AC3E}">
        <p14:creationId xmlns:p14="http://schemas.microsoft.com/office/powerpoint/2010/main" val="274482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A7F8F3-8762-0DE6-D37F-9DFDF026774B}"/>
              </a:ext>
            </a:extLst>
          </p:cNvPr>
          <p:cNvSpPr txBox="1"/>
          <p:nvPr/>
        </p:nvSpPr>
        <p:spPr>
          <a:xfrm>
            <a:off x="381000" y="254000"/>
            <a:ext cx="16002000" cy="1015663"/>
          </a:xfrm>
          <a:prstGeom prst="rect">
            <a:avLst/>
          </a:prstGeom>
          <a:noFill/>
        </p:spPr>
        <p:txBody>
          <a:bodyPr vert="horz" rtlCol="0">
            <a:spAutoFit/>
          </a:bodyPr>
          <a:lstStyle/>
          <a:p>
            <a:r>
              <a:rPr lang="en-US" sz="3000" b="1"/>
              <a:t>3. Generate the framework code (Feature, Steps, Page Methods, Page Objects) with a Copilot agent that follows your framework rules. (Part 1)</a:t>
            </a:r>
          </a:p>
        </p:txBody>
      </p:sp>
      <p:sp>
        <p:nvSpPr>
          <p:cNvPr id="3" name="TextBox 2">
            <a:extLst>
              <a:ext uri="{FF2B5EF4-FFF2-40B4-BE49-F238E27FC236}">
                <a16:creationId xmlns:a16="http://schemas.microsoft.com/office/drawing/2014/main" id="{510AA3DF-D7D4-D808-773A-49F132DE57AC}"/>
              </a:ext>
            </a:extLst>
          </p:cNvPr>
          <p:cNvSpPr txBox="1"/>
          <p:nvPr/>
        </p:nvSpPr>
        <p:spPr>
          <a:xfrm>
            <a:off x="508000" y="1270000"/>
            <a:ext cx="15494000" cy="1200329"/>
          </a:xfrm>
          <a:prstGeom prst="rect">
            <a:avLst/>
          </a:prstGeom>
          <a:noFill/>
        </p:spPr>
        <p:txBody>
          <a:bodyPr vert="horz" rtlCol="0">
            <a:spAutoFit/>
          </a:bodyPr>
          <a:lstStyle/>
          <a:p>
            <a:pPr marL="342900" indent="-342900">
              <a:buFont typeface="+mj-lt"/>
              <a:buAutoNum type="arabicPeriod"/>
            </a:pPr>
            <a:r>
              <a:rPr lang="en-US"/>
              <a:t>The key idea: scripts do the mechanical work that must be exact, and the AI agent does the work that needs judgement (reuse, naming, placing code in the right files). Both are guided by rule files, so the output follows your framework instead of generic code.</a:t>
            </a:r>
          </a:p>
          <a:p>
            <a:pPr marL="342900" indent="-342900">
              <a:buFont typeface="+mj-lt"/>
              <a:buAutoNum type="arabicPeriod"/>
            </a:pPr>
            <a:r>
              <a:rPr lang="en-US"/>
              <a:t>1.1 The two layers</a:t>
            </a:r>
          </a:p>
          <a:p>
            <a:pPr marL="342900" indent="-342900">
              <a:buFont typeface="+mj-lt"/>
              <a:buAutoNum type="arabicPeriod"/>
            </a:pPr>
            <a:r>
              <a:rPr lang="en-US"/>
              <a:t>Layer | What it is | Uses AI? | Triggered by</a:t>
            </a:r>
          </a:p>
        </p:txBody>
      </p:sp>
    </p:spTree>
    <p:extLst>
      <p:ext uri="{BB962C8B-B14F-4D97-AF65-F5344CB8AC3E}">
        <p14:creationId xmlns:p14="http://schemas.microsoft.com/office/powerpoint/2010/main" val="3774395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D2D24D-9D94-6A4E-12A6-32D269AD6FD2}"/>
              </a:ext>
            </a:extLst>
          </p:cNvPr>
          <p:cNvSpPr txBox="1"/>
          <p:nvPr/>
        </p:nvSpPr>
        <p:spPr>
          <a:xfrm>
            <a:off x="381000" y="254000"/>
            <a:ext cx="16002000" cy="1477328"/>
          </a:xfrm>
          <a:prstGeom prst="rect">
            <a:avLst/>
          </a:prstGeom>
          <a:noFill/>
        </p:spPr>
        <p:txBody>
          <a:bodyPr vert="horz" rtlCol="0">
            <a:spAutoFit/>
          </a:bodyPr>
          <a:lstStyle/>
          <a:p>
            <a:r>
              <a:rPr lang="en-US" sz="3000" b="1"/>
              <a:t>Layer 2 - AI agent generation | GitHub Copilot agent (GPT-5.3 Codex) reads Code.ts + FrameworkPrompt.md and writes Feature / Steps / Methods / Objects into the real framework, then builds it. | Yes. | The prompt you paste in Copilot chat (Part 1)</a:t>
            </a:r>
          </a:p>
        </p:txBody>
      </p:sp>
      <p:sp>
        <p:nvSpPr>
          <p:cNvPr id="3" name="TextBox 2">
            <a:extLst>
              <a:ext uri="{FF2B5EF4-FFF2-40B4-BE49-F238E27FC236}">
                <a16:creationId xmlns:a16="http://schemas.microsoft.com/office/drawing/2014/main" id="{2DDC0360-2DE4-DB8D-834C-4BF2755AE656}"/>
              </a:ext>
            </a:extLst>
          </p:cNvPr>
          <p:cNvSpPr txBox="1"/>
          <p:nvPr/>
        </p:nvSpPr>
        <p:spPr>
          <a:xfrm>
            <a:off x="508000" y="1270000"/>
            <a:ext cx="15494000" cy="923330"/>
          </a:xfrm>
          <a:prstGeom prst="rect">
            <a:avLst/>
          </a:prstGeom>
          <a:noFill/>
        </p:spPr>
        <p:txBody>
          <a:bodyPr vert="horz" rtlCol="0">
            <a:spAutoFit/>
          </a:bodyPr>
          <a:lstStyle/>
          <a:p>
            <a:pPr marL="342900" indent="-342900">
              <a:buFont typeface="+mj-lt"/>
              <a:buAutoNum type="arabicPeriod"/>
            </a:pPr>
            <a:r>
              <a:rPr lang="en-US"/>
              <a:t>Remember this sentence</a:t>
            </a:r>
          </a:p>
          <a:p>
            <a:pPr marL="342900" indent="-342900">
              <a:buFont typeface="+mj-lt"/>
              <a:buAutoNum type="arabicPeriod"/>
            </a:pPr>
            <a:r>
              <a:rPr lang="en-US"/>
              <a:t>Layer 1 prepares clean input (Code.ts). Layer 2 turns that input into framework code. If the output is wrong, first ask: was the input (Code.ts) bad, or did the agent ignore a rule?</a:t>
            </a:r>
          </a:p>
        </p:txBody>
      </p:sp>
    </p:spTree>
    <p:extLst>
      <p:ext uri="{BB962C8B-B14F-4D97-AF65-F5344CB8AC3E}">
        <p14:creationId xmlns:p14="http://schemas.microsoft.com/office/powerpoint/2010/main" val="2016994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C5837E-B696-6C85-63B2-EE7B521FF905}"/>
              </a:ext>
            </a:extLst>
          </p:cNvPr>
          <p:cNvSpPr txBox="1"/>
          <p:nvPr/>
        </p:nvSpPr>
        <p:spPr>
          <a:xfrm>
            <a:off x="381000" y="254000"/>
            <a:ext cx="16002000" cy="553998"/>
          </a:xfrm>
          <a:prstGeom prst="rect">
            <a:avLst/>
          </a:prstGeom>
          <a:noFill/>
        </p:spPr>
        <p:txBody>
          <a:bodyPr vert="horz" rtlCol="0">
            <a:spAutoFit/>
          </a:bodyPr>
          <a:lstStyle/>
          <a:p>
            <a:r>
              <a:rPr lang="en-US" sz="3000" b="1"/>
              <a:t>2. How to use it (daily workflow) (Part 1)</a:t>
            </a:r>
          </a:p>
        </p:txBody>
      </p:sp>
      <p:sp>
        <p:nvSpPr>
          <p:cNvPr id="3" name="TextBox 2">
            <a:extLst>
              <a:ext uri="{FF2B5EF4-FFF2-40B4-BE49-F238E27FC236}">
                <a16:creationId xmlns:a16="http://schemas.microsoft.com/office/drawing/2014/main" id="{2DBE5F85-3FCE-B51C-4B95-26B7B4123EB4}"/>
              </a:ext>
            </a:extLst>
          </p:cNvPr>
          <p:cNvSpPr txBox="1"/>
          <p:nvPr/>
        </p:nvSpPr>
        <p:spPr>
          <a:xfrm>
            <a:off x="508000" y="1270000"/>
            <a:ext cx="15494000" cy="369332"/>
          </a:xfrm>
          <a:prstGeom prst="rect">
            <a:avLst/>
          </a:prstGeom>
          <a:noFill/>
        </p:spPr>
        <p:txBody>
          <a:bodyPr vert="horz" rtlCol="0">
            <a:spAutoFit/>
          </a:bodyPr>
          <a:lstStyle/>
          <a:p>
            <a:pPr marL="342900" indent="-342900">
              <a:buFont typeface="+mj-lt"/>
              <a:buAutoNum type="arabicPeriod"/>
            </a:pPr>
            <a:r>
              <a:rPr lang="en-US"/>
              <a:t>2.1 Step by step</a:t>
            </a:r>
          </a:p>
        </p:txBody>
      </p:sp>
    </p:spTree>
    <p:extLst>
      <p:ext uri="{BB962C8B-B14F-4D97-AF65-F5344CB8AC3E}">
        <p14:creationId xmlns:p14="http://schemas.microsoft.com/office/powerpoint/2010/main" val="1079657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3DC23C-D4FB-CD59-0F62-1D27CF2D39FC}"/>
              </a:ext>
            </a:extLst>
          </p:cNvPr>
          <p:cNvSpPr txBox="1"/>
          <p:nvPr/>
        </p:nvSpPr>
        <p:spPr>
          <a:xfrm>
            <a:off x="381000" y="254000"/>
            <a:ext cx="16002000" cy="553998"/>
          </a:xfrm>
          <a:prstGeom prst="rect">
            <a:avLst/>
          </a:prstGeom>
          <a:noFill/>
        </p:spPr>
        <p:txBody>
          <a:bodyPr vert="horz" rtlCol="0">
            <a:spAutoFit/>
          </a:bodyPr>
          <a:lstStyle/>
          <a:p>
            <a:r>
              <a:rPr lang="en-US" sz="3000" b="1"/>
              <a:t>7. Review what the agent created, let it build the project, and run the scenario. (Part 1)</a:t>
            </a:r>
          </a:p>
        </p:txBody>
      </p:sp>
      <p:sp>
        <p:nvSpPr>
          <p:cNvPr id="3" name="TextBox 2">
            <a:extLst>
              <a:ext uri="{FF2B5EF4-FFF2-40B4-BE49-F238E27FC236}">
                <a16:creationId xmlns:a16="http://schemas.microsoft.com/office/drawing/2014/main" id="{642A1CAC-2373-40D3-AE4D-2E092BF4403C}"/>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Example commands:</a:t>
            </a:r>
          </a:p>
          <a:p>
            <a:pPr marL="342900" indent="-342900">
              <a:buFont typeface="+mj-lt"/>
              <a:buAutoNum type="arabicPeriod"/>
            </a:pPr>
            <a:r>
              <a:rPr lang="en-US"/>
              <a:t>.\StartCodegen.ps1 -TargetUrl "https://your-app-sit/default.aspx"</a:t>
            </a:r>
          </a:p>
          <a:p>
            <a:pPr marL="342900" indent="-342900">
              <a:buFont typeface="+mj-lt"/>
              <a:buAutoNum type="arabicPeriod"/>
            </a:pPr>
            <a:r>
              <a:rPr lang="en-US"/>
              <a:t>.\StartCodegen.ps1 -SkipLiveObservation</a:t>
            </a:r>
          </a:p>
          <a:p>
            <a:pPr marL="342900" indent="-342900">
              <a:buFont typeface="+mj-lt"/>
              <a:buAutoNum type="arabicPeriod"/>
            </a:pPr>
            <a:r>
              <a:rPr lang="en-US"/>
              <a:t>.\StartCodegen.ps1 -SkipTableLocatorPostProcess</a:t>
            </a:r>
          </a:p>
          <a:p>
            <a:pPr marL="342900" indent="-342900">
              <a:buFont typeface="+mj-lt"/>
              <a:buAutoNum type="arabicPeriod"/>
            </a:pPr>
            <a:r>
              <a:rPr lang="en-US"/>
              <a:t>.\StartCodegen.ps1 -SkipCSharpGeneration</a:t>
            </a:r>
          </a:p>
          <a:p>
            <a:pPr marL="342900" indent="-342900">
              <a:buFont typeface="+mj-lt"/>
              <a:buAutoNum type="arabicPeriod"/>
            </a:pPr>
            <a:r>
              <a:rPr lang="en-US"/>
              <a:t>.\StartCodegen.ps1 -TableLocatorDebug</a:t>
            </a:r>
          </a:p>
          <a:p>
            <a:pPr marL="342900" indent="-342900">
              <a:buFont typeface="+mj-lt"/>
              <a:buAutoNum type="arabicPeriod"/>
            </a:pPr>
            <a:r>
              <a:rPr lang="en-US"/>
              <a:t>2.2 The prompt you give the agent</a:t>
            </a:r>
          </a:p>
        </p:txBody>
      </p:sp>
    </p:spTree>
    <p:extLst>
      <p:ext uri="{BB962C8B-B14F-4D97-AF65-F5344CB8AC3E}">
        <p14:creationId xmlns:p14="http://schemas.microsoft.com/office/powerpoint/2010/main" val="3911564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755459-E99A-96E3-0584-8D8387691094}"/>
              </a:ext>
            </a:extLst>
          </p:cNvPr>
          <p:cNvSpPr txBox="1"/>
          <p:nvPr/>
        </p:nvSpPr>
        <p:spPr>
          <a:xfrm>
            <a:off x="381000" y="254000"/>
            <a:ext cx="16002000" cy="553998"/>
          </a:xfrm>
          <a:prstGeom prst="rect">
            <a:avLst/>
          </a:prstGeom>
          <a:noFill/>
        </p:spPr>
        <p:txBody>
          <a:bodyPr vert="horz" rtlCol="0">
            <a:spAutoFit/>
          </a:bodyPr>
          <a:lstStyle/>
          <a:p>
            <a:r>
              <a:rPr lang="en-US" sz="3000" b="1"/>
              <a:t>7. Review what the agent created, let it build the project, and run the scenario. (Part 2)</a:t>
            </a:r>
          </a:p>
        </p:txBody>
      </p:sp>
      <p:sp>
        <p:nvSpPr>
          <p:cNvPr id="3" name="TextBox 2">
            <a:extLst>
              <a:ext uri="{FF2B5EF4-FFF2-40B4-BE49-F238E27FC236}">
                <a16:creationId xmlns:a16="http://schemas.microsoft.com/office/drawing/2014/main" id="{812E58CD-4BE5-04AA-4759-505BC6BE0DA0}"/>
              </a:ext>
            </a:extLst>
          </p:cNvPr>
          <p:cNvSpPr txBox="1"/>
          <p:nvPr/>
        </p:nvSpPr>
        <p:spPr>
          <a:xfrm>
            <a:off x="508000" y="1270000"/>
            <a:ext cx="15494000" cy="369332"/>
          </a:xfrm>
          <a:prstGeom prst="rect">
            <a:avLst/>
          </a:prstGeom>
          <a:noFill/>
        </p:spPr>
        <p:txBody>
          <a:bodyPr vert="horz" rtlCol="0">
            <a:spAutoFit/>
          </a:bodyPr>
          <a:lstStyle/>
          <a:p>
            <a:pPr marL="342900" indent="-342900">
              <a:buFont typeface="+mj-lt"/>
              <a:buAutoNum type="arabicPeriod"/>
            </a:pPr>
            <a:r>
              <a:rPr lang="en-US"/>
              <a:t>Read:</a:t>
            </a:r>
          </a:p>
        </p:txBody>
      </p:sp>
    </p:spTree>
    <p:extLst>
      <p:ext uri="{BB962C8B-B14F-4D97-AF65-F5344CB8AC3E}">
        <p14:creationId xmlns:p14="http://schemas.microsoft.com/office/powerpoint/2010/main" val="2012327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0ED788-3F29-81C8-157D-7F1FBDBC9187}"/>
              </a:ext>
            </a:extLst>
          </p:cNvPr>
          <p:cNvSpPr txBox="1"/>
          <p:nvPr/>
        </p:nvSpPr>
        <p:spPr>
          <a:xfrm>
            <a:off x="381000" y="254000"/>
            <a:ext cx="16002000" cy="553998"/>
          </a:xfrm>
          <a:prstGeom prst="rect">
            <a:avLst/>
          </a:prstGeom>
          <a:noFill/>
        </p:spPr>
        <p:txBody>
          <a:bodyPr vert="horz" rtlCol="0">
            <a:spAutoFit/>
          </a:bodyPr>
          <a:lstStyle/>
          <a:p>
            <a:r>
              <a:rPr lang="en-US" sz="3000" b="1"/>
              <a:t>2. CodegenAI/AIRecorder/FrameworkPrompt.md (Part 1)</a:t>
            </a:r>
          </a:p>
        </p:txBody>
      </p:sp>
      <p:sp>
        <p:nvSpPr>
          <p:cNvPr id="3" name="TextBox 2">
            <a:extLst>
              <a:ext uri="{FF2B5EF4-FFF2-40B4-BE49-F238E27FC236}">
                <a16:creationId xmlns:a16="http://schemas.microsoft.com/office/drawing/2014/main" id="{0DA463D4-ED5A-64F6-F1A0-AC6A9EBA7C4B}"/>
              </a:ext>
            </a:extLst>
          </p:cNvPr>
          <p:cNvSpPr txBox="1"/>
          <p:nvPr/>
        </p:nvSpPr>
        <p:spPr>
          <a:xfrm>
            <a:off x="508000" y="1270000"/>
            <a:ext cx="15494000" cy="369332"/>
          </a:xfrm>
          <a:prstGeom prst="rect">
            <a:avLst/>
          </a:prstGeom>
          <a:noFill/>
        </p:spPr>
        <p:txBody>
          <a:bodyPr vert="horz" rtlCol="0">
            <a:spAutoFit/>
          </a:bodyPr>
          <a:lstStyle/>
          <a:p>
            <a:pPr marL="342900" indent="-342900">
              <a:buFont typeface="+mj-lt"/>
              <a:buAutoNum type="arabicPeriod"/>
            </a:pPr>
            <a:r>
              <a:rPr lang="en-US"/>
              <a:t>Generate:</a:t>
            </a:r>
          </a:p>
        </p:txBody>
      </p:sp>
    </p:spTree>
    <p:extLst>
      <p:ext uri="{BB962C8B-B14F-4D97-AF65-F5344CB8AC3E}">
        <p14:creationId xmlns:p14="http://schemas.microsoft.com/office/powerpoint/2010/main" val="1814289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9EC0E2-ABA9-85BD-B1D5-EA7B87C14A86}"/>
              </a:ext>
            </a:extLst>
          </p:cNvPr>
          <p:cNvSpPr txBox="1"/>
          <p:nvPr/>
        </p:nvSpPr>
        <p:spPr>
          <a:xfrm>
            <a:off x="381000" y="254000"/>
            <a:ext cx="16002000" cy="553998"/>
          </a:xfrm>
          <a:prstGeom prst="rect">
            <a:avLst/>
          </a:prstGeom>
          <a:noFill/>
        </p:spPr>
        <p:txBody>
          <a:bodyPr vert="horz" rtlCol="0">
            <a:spAutoFit/>
          </a:bodyPr>
          <a:lstStyle/>
          <a:p>
            <a:r>
              <a:rPr lang="en-US" sz="3000" b="1"/>
              <a:t>7. Follow the existing framework structure. (Part 1)</a:t>
            </a:r>
          </a:p>
        </p:txBody>
      </p:sp>
      <p:sp>
        <p:nvSpPr>
          <p:cNvPr id="3" name="TextBox 2">
            <a:extLst>
              <a:ext uri="{FF2B5EF4-FFF2-40B4-BE49-F238E27FC236}">
                <a16:creationId xmlns:a16="http://schemas.microsoft.com/office/drawing/2014/main" id="{7F261736-DBEE-1519-E134-7ABF15C784F0}"/>
              </a:ext>
            </a:extLst>
          </p:cNvPr>
          <p:cNvSpPr txBox="1"/>
          <p:nvPr/>
        </p:nvSpPr>
        <p:spPr>
          <a:xfrm>
            <a:off x="508000" y="1270000"/>
            <a:ext cx="15494000" cy="2308324"/>
          </a:xfrm>
          <a:prstGeom prst="rect">
            <a:avLst/>
          </a:prstGeom>
          <a:noFill/>
        </p:spPr>
        <p:txBody>
          <a:bodyPr vert="horz" rtlCol="0">
            <a:spAutoFit/>
          </a:bodyPr>
          <a:lstStyle/>
          <a:p>
            <a:pPr marL="342900" indent="-342900">
              <a:buFont typeface="+mj-lt"/>
              <a:buAutoNum type="arabicPeriod"/>
            </a:pPr>
            <a:r>
              <a:rPr lang="en-US"/>
              <a:t>FrameworkPrompt.md is where the detailed rules live (URL handling, which feature to append to, waits, assertions, Excel data, locator reuse). The chat prompt only says what to read and what to produce; the rules file says how.</a:t>
            </a:r>
          </a:p>
          <a:p>
            <a:pPr marL="342900" indent="-342900">
              <a:buFont typeface="+mj-lt"/>
              <a:buAutoNum type="arabicPeriod"/>
            </a:pPr>
            <a:r>
              <a:rPr lang="en-US"/>
              <a:t>2.3 Script switches</a:t>
            </a:r>
          </a:p>
          <a:p>
            <a:pPr marL="342900" indent="-342900">
              <a:buFont typeface="+mj-lt"/>
              <a:buAutoNum type="arabicPeriod"/>
            </a:pPr>
            <a:r>
              <a:rPr lang="en-US"/>
              <a:t>-TargetUrl: Application URL that codegen opens first.</a:t>
            </a:r>
          </a:p>
          <a:p>
            <a:pPr marL="342900" indent="-342900">
              <a:buFont typeface="+mj-lt"/>
              <a:buAutoNum type="arabicPeriod"/>
            </a:pPr>
            <a:r>
              <a:rPr lang="en-US"/>
              <a:t>-TestIdAttribute: Attribute treated as test id (default data-testid).</a:t>
            </a:r>
          </a:p>
          <a:p>
            <a:pPr marL="342900" indent="-342900">
              <a:buFont typeface="+mj-lt"/>
              <a:buAutoNum type="arabicPeriod"/>
            </a:pPr>
            <a:r>
              <a:rPr lang="en-US"/>
              <a:t>-TableSelector: CSS tag used to detect tables (default table).</a:t>
            </a:r>
          </a:p>
          <a:p>
            <a:pPr marL="342900" indent="-342900">
              <a:buFont typeface="+mj-lt"/>
              <a:buAutoNum type="arabicPeriod"/>
            </a:pPr>
            <a:r>
              <a:rPr lang="en-US"/>
              <a:t>-SkipLiveObservation: Do not replay the flow in a headless browser to collect DOM evidence.</a:t>
            </a:r>
          </a:p>
          <a:p>
            <a:pPr marL="342900" indent="-342900">
              <a:buFont typeface="+mj-lt"/>
              <a:buAutoNum type="arabicPeriod"/>
            </a:pPr>
            <a:r>
              <a:rPr lang="en-US"/>
              <a:t>-SkipTableLocatorPostProcess: Do not rewrite table locators in Code.ts.</a:t>
            </a:r>
          </a:p>
        </p:txBody>
      </p:sp>
    </p:spTree>
    <p:extLst>
      <p:ext uri="{BB962C8B-B14F-4D97-AF65-F5344CB8AC3E}">
        <p14:creationId xmlns:p14="http://schemas.microsoft.com/office/powerpoint/2010/main" val="3653431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27407F-234C-B71B-6F3A-40FB9C7D7CAA}"/>
              </a:ext>
            </a:extLst>
          </p:cNvPr>
          <p:cNvSpPr txBox="1"/>
          <p:nvPr/>
        </p:nvSpPr>
        <p:spPr>
          <a:xfrm>
            <a:off x="381000" y="254000"/>
            <a:ext cx="16002000" cy="553998"/>
          </a:xfrm>
          <a:prstGeom prst="rect">
            <a:avLst/>
          </a:prstGeom>
          <a:noFill/>
        </p:spPr>
        <p:txBody>
          <a:bodyPr vert="horz" rtlCol="0">
            <a:spAutoFit/>
          </a:bodyPr>
          <a:lstStyle/>
          <a:p>
            <a:r>
              <a:rPr lang="en-US" sz="3000" b="1"/>
              <a:t>7. Follow the existing framework structure. (Part 2)</a:t>
            </a:r>
          </a:p>
        </p:txBody>
      </p:sp>
      <p:sp>
        <p:nvSpPr>
          <p:cNvPr id="3" name="TextBox 2">
            <a:extLst>
              <a:ext uri="{FF2B5EF4-FFF2-40B4-BE49-F238E27FC236}">
                <a16:creationId xmlns:a16="http://schemas.microsoft.com/office/drawing/2014/main" id="{CCC83ED4-E78B-ED26-0358-022E54803B47}"/>
              </a:ext>
            </a:extLst>
          </p:cNvPr>
          <p:cNvSpPr txBox="1"/>
          <p:nvPr/>
        </p:nvSpPr>
        <p:spPr>
          <a:xfrm>
            <a:off x="508000" y="1270000"/>
            <a:ext cx="15494000" cy="646331"/>
          </a:xfrm>
          <a:prstGeom prst="rect">
            <a:avLst/>
          </a:prstGeom>
          <a:noFill/>
        </p:spPr>
        <p:txBody>
          <a:bodyPr vert="horz" rtlCol="0">
            <a:spAutoFit/>
          </a:bodyPr>
          <a:lstStyle/>
          <a:p>
            <a:pPr marL="342900" indent="-342900">
              <a:buFont typeface="+mj-lt"/>
              <a:buAutoNum type="arabicPeriod"/>
            </a:pPr>
            <a:r>
              <a:rPr lang="en-US"/>
              <a:t>-TableLocatorDebug: Print detailed log lines from the locator engine.</a:t>
            </a:r>
          </a:p>
          <a:p>
            <a:pPr marL="342900" indent="-342900">
              <a:buFont typeface="+mj-lt"/>
              <a:buAutoNum type="arabicPeriod"/>
            </a:pPr>
            <a:r>
              <a:rPr lang="en-US"/>
              <a:t>-SkipCSharpGeneration: Do not start the live watcher and do not create Code.cs.</a:t>
            </a:r>
          </a:p>
        </p:txBody>
      </p:sp>
    </p:spTree>
    <p:extLst>
      <p:ext uri="{BB962C8B-B14F-4D97-AF65-F5344CB8AC3E}">
        <p14:creationId xmlns:p14="http://schemas.microsoft.com/office/powerpoint/2010/main" val="104940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8391AC-12BA-AE38-EB73-882474290943}"/>
              </a:ext>
            </a:extLst>
          </p:cNvPr>
          <p:cNvSpPr txBox="1"/>
          <p:nvPr/>
        </p:nvSpPr>
        <p:spPr>
          <a:xfrm>
            <a:off x="381000" y="254000"/>
            <a:ext cx="16002000" cy="553998"/>
          </a:xfrm>
          <a:prstGeom prst="rect">
            <a:avLst/>
          </a:prstGeom>
          <a:noFill/>
        </p:spPr>
        <p:txBody>
          <a:bodyPr vert="horz" rtlCol="0">
            <a:spAutoFit/>
          </a:bodyPr>
          <a:lstStyle/>
          <a:p>
            <a:r>
              <a:rPr lang="en-US" sz="3000" b="1"/>
              <a:t>3. What runs in the background (Part 1)</a:t>
            </a:r>
          </a:p>
        </p:txBody>
      </p:sp>
      <p:sp>
        <p:nvSpPr>
          <p:cNvPr id="3" name="TextBox 2">
            <a:extLst>
              <a:ext uri="{FF2B5EF4-FFF2-40B4-BE49-F238E27FC236}">
                <a16:creationId xmlns:a16="http://schemas.microsoft.com/office/drawing/2014/main" id="{D72B1BDA-AF9F-15B7-A67C-60A274F1CCAE}"/>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3.1 Timeline</a:t>
            </a:r>
          </a:p>
          <a:p>
            <a:pPr marL="342900" indent="-342900">
              <a:buFont typeface="+mj-lt"/>
              <a:buAutoNum type="arabicPeriod"/>
            </a:pPr>
            <a:r>
              <a:rPr lang="en-US"/>
              <a:t>1) Script starts: resolves paths for session, output, scripts and appsettings.json. (StartCodegen.ps1)</a:t>
            </a:r>
          </a:p>
          <a:p>
            <a:pPr marL="342900" indent="-342900">
              <a:buFont typeface="+mj-lt"/>
              <a:buAutoNum type="arabicPeriod"/>
            </a:pPr>
            <a:r>
              <a:rPr lang="en-US"/>
              <a:t>2) Before browser opens: session check and stale cleanup. (auth/SessionManager.ps1)</a:t>
            </a:r>
          </a:p>
          <a:p>
            <a:pPr marL="342900" indent="-342900">
              <a:buFont typeface="+mj-lt"/>
              <a:buAutoNum type="arabicPeriod"/>
            </a:pPr>
            <a:r>
              <a:rPr lang="en-US"/>
              <a:t>3) Builds codegen command with load/save storage. (SessionManager.ps1)</a:t>
            </a:r>
          </a:p>
          <a:p>
            <a:pPr marL="342900" indent="-342900">
              <a:buFont typeface="+mj-lt"/>
              <a:buAutoNum type="arabicPeriod"/>
            </a:pPr>
            <a:r>
              <a:rPr lang="en-US"/>
              <a:t>4) Starts background watcher job for Code.ts -&gt; Code.cs. (StartCodegen.ps1 + Generator/CSharpLiveSync.cjs)</a:t>
            </a:r>
          </a:p>
          <a:p>
            <a:pPr marL="342900" indent="-342900">
              <a:buFont typeface="+mj-lt"/>
              <a:buAutoNum type="arabicPeriod"/>
            </a:pPr>
            <a:r>
              <a:rPr lang="en-US"/>
              <a:t>5) While you record: codegen writes Code.ts; watcher regenerates Code.cs. (CSharpLiveSync.cjs -&gt; CSharpCodeGenerator.cjs)</a:t>
            </a:r>
          </a:p>
          <a:p>
            <a:pPr marL="342900" indent="-342900">
              <a:buFont typeface="+mj-lt"/>
              <a:buAutoNum type="arabicPeriod"/>
            </a:pPr>
            <a:r>
              <a:rPr lang="en-US"/>
              <a:t>6) You close browser: Playwright saves session.json.</a:t>
            </a:r>
          </a:p>
        </p:txBody>
      </p:sp>
    </p:spTree>
    <p:extLst>
      <p:ext uri="{BB962C8B-B14F-4D97-AF65-F5344CB8AC3E}">
        <p14:creationId xmlns:p14="http://schemas.microsoft.com/office/powerpoint/2010/main" val="3894812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665895-6EF4-78FE-4826-6A9E874BC1B3}"/>
              </a:ext>
            </a:extLst>
          </p:cNvPr>
          <p:cNvSpPr txBox="1"/>
          <p:nvPr/>
        </p:nvSpPr>
        <p:spPr>
          <a:xfrm>
            <a:off x="381000" y="254000"/>
            <a:ext cx="16002000" cy="553998"/>
          </a:xfrm>
          <a:prstGeom prst="rect">
            <a:avLst/>
          </a:prstGeom>
          <a:noFill/>
        </p:spPr>
        <p:txBody>
          <a:bodyPr vert="horz" rtlCol="0">
            <a:spAutoFit/>
          </a:bodyPr>
          <a:lstStyle/>
          <a:p>
            <a:r>
              <a:rPr lang="en-US" sz="3000" b="1"/>
              <a:t>3. What runs in the background (Part 2)</a:t>
            </a:r>
          </a:p>
        </p:txBody>
      </p:sp>
      <p:sp>
        <p:nvSpPr>
          <p:cNvPr id="3" name="TextBox 2">
            <a:extLst>
              <a:ext uri="{FF2B5EF4-FFF2-40B4-BE49-F238E27FC236}">
                <a16:creationId xmlns:a16="http://schemas.microsoft.com/office/drawing/2014/main" id="{9BFD1CEA-4B14-B73E-AB58-6CF9150DDFD0}"/>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7) After close: headless replay collects DOM evidence. (Intelligence/LiveObserver.cjs)</a:t>
            </a:r>
          </a:p>
          <a:p>
            <a:pPr marL="342900" indent="-342900">
              <a:buFont typeface="+mj-lt"/>
              <a:buAutoNum type="arabicPeriod"/>
            </a:pPr>
            <a:r>
              <a:rPr lang="en-US"/>
              <a:t>8) After close: table locator rewrite updates Code.ts and metadata. (TableLocatorIntelligence.cjs via LiveTableLocatorEngine.cjs)</a:t>
            </a:r>
          </a:p>
          <a:p>
            <a:pPr marL="342900" indent="-342900">
              <a:buFont typeface="+mj-lt"/>
              <a:buAutoNum type="arabicPeriod"/>
            </a:pPr>
            <a:r>
              <a:rPr lang="en-US"/>
              <a:t>9) If step 7-8 fails: fallback legacy pipeline runs and keeps original locators.</a:t>
            </a:r>
          </a:p>
          <a:p>
            <a:pPr marL="342900" indent="-342900">
              <a:buFont typeface="+mj-lt"/>
              <a:buAutoNum type="arabicPeriod"/>
            </a:pPr>
            <a:r>
              <a:rPr lang="en-US"/>
              <a:t>10) Final C# generation writes Code.cs + CSharpGenerationReport.json.</a:t>
            </a:r>
          </a:p>
          <a:p>
            <a:pPr marL="342900" indent="-342900">
              <a:buFont typeface="+mj-lt"/>
              <a:buAutoNum type="arabicPeriod"/>
            </a:pPr>
            <a:r>
              <a:rPr lang="en-US"/>
              <a:t>11) finally block stops/removes watcher job and stop-signal file.</a:t>
            </a:r>
          </a:p>
          <a:p>
            <a:pPr marL="342900" indent="-342900">
              <a:buFont typeface="+mj-lt"/>
              <a:buAutoNum type="arabicPeriod"/>
            </a:pPr>
            <a:r>
              <a:rPr lang="en-US"/>
              <a:t>12) Then Copilot agent generation starts from your prompt.</a:t>
            </a:r>
          </a:p>
          <a:p>
            <a:pPr marL="342900" indent="-342900">
              <a:buFont typeface="+mj-lt"/>
              <a:buAutoNum type="arabicPeriod"/>
            </a:pPr>
            <a:r>
              <a:rPr lang="en-US"/>
              <a:t>3.2 Why each background step exists</a:t>
            </a:r>
          </a:p>
        </p:txBody>
      </p:sp>
    </p:spTree>
    <p:extLst>
      <p:ext uri="{BB962C8B-B14F-4D97-AF65-F5344CB8AC3E}">
        <p14:creationId xmlns:p14="http://schemas.microsoft.com/office/powerpoint/2010/main" val="303066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150FAF-B131-5160-E691-9B8C87507153}"/>
              </a:ext>
            </a:extLst>
          </p:cNvPr>
          <p:cNvSpPr txBox="1"/>
          <p:nvPr/>
        </p:nvSpPr>
        <p:spPr>
          <a:xfrm>
            <a:off x="381000" y="254000"/>
            <a:ext cx="16002000" cy="553998"/>
          </a:xfrm>
          <a:prstGeom prst="rect">
            <a:avLst/>
          </a:prstGeom>
          <a:noFill/>
        </p:spPr>
        <p:txBody>
          <a:bodyPr vert="horz" rtlCol="0">
            <a:spAutoFit/>
          </a:bodyPr>
          <a:lstStyle/>
          <a:p>
            <a:r>
              <a:rPr lang="en-US" sz="3000" b="1"/>
              <a:t>3. What runs in the background (Part 3)</a:t>
            </a:r>
          </a:p>
        </p:txBody>
      </p:sp>
      <p:sp>
        <p:nvSpPr>
          <p:cNvPr id="3" name="TextBox 2">
            <a:extLst>
              <a:ext uri="{FF2B5EF4-FFF2-40B4-BE49-F238E27FC236}">
                <a16:creationId xmlns:a16="http://schemas.microsoft.com/office/drawing/2014/main" id="{72D72081-2728-8594-260B-BCEBB6F7BF9B}"/>
              </a:ext>
            </a:extLst>
          </p:cNvPr>
          <p:cNvSpPr txBox="1"/>
          <p:nvPr/>
        </p:nvSpPr>
        <p:spPr>
          <a:xfrm>
            <a:off x="508000" y="1270000"/>
            <a:ext cx="15494000" cy="1754326"/>
          </a:xfrm>
          <a:prstGeom prst="rect">
            <a:avLst/>
          </a:prstGeom>
          <a:noFill/>
        </p:spPr>
        <p:txBody>
          <a:bodyPr vert="horz" rtlCol="0">
            <a:spAutoFit/>
          </a:bodyPr>
          <a:lstStyle/>
          <a:p>
            <a:pPr marL="342900" indent="-342900">
              <a:buFont typeface="+mj-lt"/>
              <a:buAutoNum type="arabicPeriod"/>
            </a:pPr>
            <a:r>
              <a:rPr lang="en-US"/>
              <a:t>- Session reuse avoids repeated SSO login (4-day freshness).</a:t>
            </a:r>
          </a:p>
          <a:p>
            <a:pPr marL="342900" indent="-342900">
              <a:buFont typeface="+mj-lt"/>
              <a:buAutoNum type="arabicPeriod"/>
            </a:pPr>
            <a:r>
              <a:rPr lang="en-US"/>
              <a:t>- Live watcher gives immediate C# draft feedback.</a:t>
            </a:r>
          </a:p>
          <a:p>
            <a:pPr marL="342900" indent="-342900">
              <a:buFont typeface="+mj-lt"/>
              <a:buAutoNum type="arabicPeriod"/>
            </a:pPr>
            <a:r>
              <a:rPr lang="en-US"/>
              <a:t>- Live observation captures real DOM context at each action moment.</a:t>
            </a:r>
          </a:p>
          <a:p>
            <a:pPr marL="342900" indent="-342900">
              <a:buFont typeface="+mj-lt"/>
              <a:buAutoNum type="arabicPeriod"/>
            </a:pPr>
            <a:r>
              <a:rPr lang="en-US"/>
              <a:t>- Table intelligence replaces fragile dynamic locators with stable candidates.</a:t>
            </a:r>
          </a:p>
          <a:p>
            <a:pPr marL="342900" indent="-342900">
              <a:buFont typeface="+mj-lt"/>
              <a:buAutoNum type="arabicPeriod"/>
            </a:pPr>
            <a:r>
              <a:rPr lang="en-US"/>
              <a:t>- C# generator converts TS actions into maintainable Playwright C# and reports unsupported lines.</a:t>
            </a:r>
          </a:p>
          <a:p>
            <a:pPr marL="342900" indent="-342900">
              <a:buFont typeface="+mj-lt"/>
              <a:buAutoNum type="arabicPeriod"/>
            </a:pPr>
            <a:r>
              <a:rPr lang="en-US"/>
              <a:t>3.3 What the Copilot agent does after your prompt</a:t>
            </a:r>
          </a:p>
        </p:txBody>
      </p:sp>
    </p:spTree>
    <p:extLst>
      <p:ext uri="{BB962C8B-B14F-4D97-AF65-F5344CB8AC3E}">
        <p14:creationId xmlns:p14="http://schemas.microsoft.com/office/powerpoint/2010/main" val="1312432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566F7D-9FEA-BCEE-6F5E-BCB2F9618D72}"/>
              </a:ext>
            </a:extLst>
          </p:cNvPr>
          <p:cNvSpPr txBox="1"/>
          <p:nvPr/>
        </p:nvSpPr>
        <p:spPr>
          <a:xfrm>
            <a:off x="381000" y="254000"/>
            <a:ext cx="16002000" cy="553998"/>
          </a:xfrm>
          <a:prstGeom prst="rect">
            <a:avLst/>
          </a:prstGeom>
          <a:noFill/>
        </p:spPr>
        <p:txBody>
          <a:bodyPr vert="horz" rtlCol="0">
            <a:spAutoFit/>
          </a:bodyPr>
          <a:lstStyle/>
          <a:p>
            <a:r>
              <a:rPr lang="en-US" sz="3000" b="1"/>
              <a:t>7. Builds solution, fixes compile errors, and summarizes changes. (Part 1)</a:t>
            </a:r>
          </a:p>
        </p:txBody>
      </p:sp>
      <p:sp>
        <p:nvSpPr>
          <p:cNvPr id="3" name="TextBox 2">
            <a:extLst>
              <a:ext uri="{FF2B5EF4-FFF2-40B4-BE49-F238E27FC236}">
                <a16:creationId xmlns:a16="http://schemas.microsoft.com/office/drawing/2014/main" id="{6F70FD4A-39E4-4393-AF48-75E3706E101C}"/>
              </a:ext>
            </a:extLst>
          </p:cNvPr>
          <p:cNvSpPr txBox="1"/>
          <p:nvPr/>
        </p:nvSpPr>
        <p:spPr>
          <a:xfrm>
            <a:off x="508000" y="1270000"/>
            <a:ext cx="15494000" cy="1754326"/>
          </a:xfrm>
          <a:prstGeom prst="rect">
            <a:avLst/>
          </a:prstGeom>
          <a:noFill/>
        </p:spPr>
        <p:txBody>
          <a:bodyPr vert="horz" rtlCol="0">
            <a:spAutoFit/>
          </a:bodyPr>
          <a:lstStyle/>
          <a:p>
            <a:pPr marL="342900" indent="-342900">
              <a:buFont typeface="+mj-lt"/>
              <a:buAutoNum type="arabicPeriod"/>
            </a:pPr>
            <a:r>
              <a:rPr lang="en-US"/>
              <a:t>3.4 Optional follow-up prompts</a:t>
            </a:r>
          </a:p>
          <a:p>
            <a:pPr marL="342900" indent="-342900">
              <a:buFont typeface="+mj-lt"/>
              <a:buAutoNum type="arabicPeriod"/>
            </a:pPr>
            <a:r>
              <a:rPr lang="en-US"/>
              <a:t>ExecutePrompt.md: build and run generated scenarios -&gt; ExecutionSummary.md</a:t>
            </a:r>
          </a:p>
          <a:p>
            <a:pPr marL="342900" indent="-342900">
              <a:buFont typeface="+mj-lt"/>
              <a:buAutoNum type="arabicPeriod"/>
            </a:pPr>
            <a:r>
              <a:rPr lang="en-US"/>
              <a:t>TraceAnalysisPrompt.md: analyze Playwright trace -&gt; waits/assertions improvements</a:t>
            </a:r>
          </a:p>
          <a:p>
            <a:pPr marL="342900" indent="-342900">
              <a:buFont typeface="+mj-lt"/>
              <a:buAutoNum type="arabicPeriod"/>
            </a:pPr>
            <a:r>
              <a:rPr lang="en-US"/>
              <a:t>ImprovementPrompt.md: failure root cause -&gt; reusable fixes</a:t>
            </a:r>
          </a:p>
          <a:p>
            <a:pPr marL="342900" indent="-342900">
              <a:buFont typeface="+mj-lt"/>
              <a:buAutoNum type="arabicPeriod"/>
            </a:pPr>
            <a:r>
              <a:rPr lang="en-US"/>
              <a:t>SelfHealingPrompt.md: safe patch proposal -&gt; PatchProposal.md</a:t>
            </a:r>
          </a:p>
          <a:p>
            <a:pPr marL="342900" indent="-342900">
              <a:buFont typeface="+mj-lt"/>
              <a:buAutoNum type="arabicPeriod"/>
            </a:pPr>
            <a:r>
              <a:rPr lang="en-US"/>
              <a:t>FeaturePrompt.md / FeatureGenerationPrompt.md / ExcelGenerationPrompt.md: focused generation tasks</a:t>
            </a:r>
          </a:p>
        </p:txBody>
      </p:sp>
    </p:spTree>
    <p:extLst>
      <p:ext uri="{BB962C8B-B14F-4D97-AF65-F5344CB8AC3E}">
        <p14:creationId xmlns:p14="http://schemas.microsoft.com/office/powerpoint/2010/main" val="229394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F0DAAF-45AF-5508-C3A5-00E1F0999961}"/>
              </a:ext>
            </a:extLst>
          </p:cNvPr>
          <p:cNvSpPr txBox="1"/>
          <p:nvPr/>
        </p:nvSpPr>
        <p:spPr>
          <a:xfrm>
            <a:off x="381000" y="254000"/>
            <a:ext cx="16002000" cy="553998"/>
          </a:xfrm>
          <a:prstGeom prst="rect">
            <a:avLst/>
          </a:prstGeom>
          <a:noFill/>
        </p:spPr>
        <p:txBody>
          <a:bodyPr vert="horz" rtlCol="0">
            <a:spAutoFit/>
          </a:bodyPr>
          <a:lstStyle/>
          <a:p>
            <a:r>
              <a:rPr lang="en-US" sz="3000" b="1"/>
              <a:t>4. Folder structure (Part 1)</a:t>
            </a:r>
          </a:p>
        </p:txBody>
      </p:sp>
      <p:sp>
        <p:nvSpPr>
          <p:cNvPr id="3" name="TextBox 2">
            <a:extLst>
              <a:ext uri="{FF2B5EF4-FFF2-40B4-BE49-F238E27FC236}">
                <a16:creationId xmlns:a16="http://schemas.microsoft.com/office/drawing/2014/main" id="{E9DD37D9-9B1A-A502-018A-5829EB6FA029}"/>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CodegenAI/</a:t>
            </a:r>
          </a:p>
          <a:p>
            <a:pPr marL="342900" indent="-342900">
              <a:buFont typeface="+mj-lt"/>
              <a:buAutoNum type="arabicPeriod"/>
            </a:pPr>
            <a:r>
              <a:rPr lang="en-US"/>
              <a:t>|- StartCodegen.ps1 (entry)</a:t>
            </a:r>
          </a:p>
          <a:p>
            <a:pPr marL="342900" indent="-342900">
              <a:buFont typeface="+mj-lt"/>
              <a:buAutoNum type="arabicPeriod"/>
            </a:pPr>
            <a:r>
              <a:rPr lang="en-US"/>
              <a:t>|- Code.ts (recorded input)</a:t>
            </a:r>
          </a:p>
          <a:p>
            <a:pPr marL="342900" indent="-342900">
              <a:buFont typeface="+mj-lt"/>
              <a:buAutoNum type="arabicPeriod"/>
            </a:pPr>
            <a:r>
              <a:rPr lang="en-US"/>
              <a:t>|- Code.cs (generated C# draft)</a:t>
            </a:r>
          </a:p>
          <a:p>
            <a:pPr marL="342900" indent="-342900">
              <a:buFont typeface="+mj-lt"/>
              <a:buAutoNum type="arabicPeriod"/>
            </a:pPr>
            <a:r>
              <a:rPr lang="en-US"/>
              <a:t>|- CSharpGenerationReport.json (conversion audit)</a:t>
            </a:r>
          </a:p>
          <a:p>
            <a:pPr marL="342900" indent="-342900">
              <a:buFont typeface="+mj-lt"/>
              <a:buAutoNum type="arabicPeriod"/>
            </a:pPr>
            <a:r>
              <a:rPr lang="en-US"/>
              <a:t>`- AIRecorder/</a:t>
            </a:r>
          </a:p>
          <a:p>
            <a:pPr marL="342900" indent="-342900">
              <a:buFont typeface="+mj-lt"/>
              <a:buAutoNum type="arabicPeriod"/>
            </a:pPr>
            <a:r>
              <a:rPr lang="en-US"/>
              <a:t>|- auth/</a:t>
            </a:r>
          </a:p>
        </p:txBody>
      </p:sp>
    </p:spTree>
    <p:extLst>
      <p:ext uri="{BB962C8B-B14F-4D97-AF65-F5344CB8AC3E}">
        <p14:creationId xmlns:p14="http://schemas.microsoft.com/office/powerpoint/2010/main" val="1058773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46F012-CBC9-6405-FD84-8EE1B532AFDF}"/>
              </a:ext>
            </a:extLst>
          </p:cNvPr>
          <p:cNvSpPr txBox="1"/>
          <p:nvPr/>
        </p:nvSpPr>
        <p:spPr>
          <a:xfrm>
            <a:off x="381000" y="254000"/>
            <a:ext cx="16002000" cy="553998"/>
          </a:xfrm>
          <a:prstGeom prst="rect">
            <a:avLst/>
          </a:prstGeom>
          <a:noFill/>
        </p:spPr>
        <p:txBody>
          <a:bodyPr vert="horz" rtlCol="0">
            <a:spAutoFit/>
          </a:bodyPr>
          <a:lstStyle/>
          <a:p>
            <a:r>
              <a:rPr lang="en-US" sz="3000" b="1"/>
              <a:t>4. Folder structure (Part 2)</a:t>
            </a:r>
          </a:p>
        </p:txBody>
      </p:sp>
      <p:sp>
        <p:nvSpPr>
          <p:cNvPr id="3" name="TextBox 2">
            <a:extLst>
              <a:ext uri="{FF2B5EF4-FFF2-40B4-BE49-F238E27FC236}">
                <a16:creationId xmlns:a16="http://schemas.microsoft.com/office/drawing/2014/main" id="{747D7A07-6E20-AE67-69DF-DCF1F0EEAA08}"/>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 Intelligence/</a:t>
            </a:r>
          </a:p>
          <a:p>
            <a:pPr marL="342900" indent="-342900">
              <a:buFont typeface="+mj-lt"/>
              <a:buAutoNum type="arabicPeriod"/>
            </a:pPr>
            <a:r>
              <a:rPr lang="en-US"/>
              <a:t>|- Generator/</a:t>
            </a:r>
          </a:p>
          <a:p>
            <a:pPr marL="342900" indent="-342900">
              <a:buFont typeface="+mj-lt"/>
              <a:buAutoNum type="arabicPeriod"/>
            </a:pPr>
            <a:r>
              <a:rPr lang="en-US"/>
              <a:t>|- Debug/</a:t>
            </a:r>
          </a:p>
          <a:p>
            <a:pPr marL="342900" indent="-342900">
              <a:buFont typeface="+mj-lt"/>
              <a:buAutoNum type="arabicPeriod"/>
            </a:pPr>
            <a:r>
              <a:rPr lang="en-US"/>
              <a:t>|- FrameworkPrompt.md</a:t>
            </a:r>
          </a:p>
          <a:p>
            <a:pPr marL="342900" indent="-342900">
              <a:buFont typeface="+mj-lt"/>
              <a:buAutoNum type="arabicPeriod"/>
            </a:pPr>
            <a:r>
              <a:rPr lang="en-US"/>
              <a:t>|- FrameworkContext.md</a:t>
            </a:r>
          </a:p>
          <a:p>
            <a:pPr marL="342900" indent="-342900">
              <a:buFont typeface="+mj-lt"/>
              <a:buAutoNum type="arabicPeriod"/>
            </a:pPr>
            <a:r>
              <a:rPr lang="en-US"/>
              <a:t>|- prompt files</a:t>
            </a:r>
          </a:p>
          <a:p>
            <a:pPr marL="342900" indent="-342900">
              <a:buFont typeface="+mj-lt"/>
              <a:buAutoNum type="arabicPeriod"/>
            </a:pPr>
            <a:r>
              <a:rPr lang="en-US"/>
              <a:t>|- Instruction.docx</a:t>
            </a:r>
          </a:p>
        </p:txBody>
      </p:sp>
    </p:spTree>
    <p:extLst>
      <p:ext uri="{BB962C8B-B14F-4D97-AF65-F5344CB8AC3E}">
        <p14:creationId xmlns:p14="http://schemas.microsoft.com/office/powerpoint/2010/main" val="18478715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64A12B-6D0C-EDDB-CBD5-B78EE4EA6C86}"/>
              </a:ext>
            </a:extLst>
          </p:cNvPr>
          <p:cNvSpPr txBox="1"/>
          <p:nvPr/>
        </p:nvSpPr>
        <p:spPr>
          <a:xfrm>
            <a:off x="381000" y="254000"/>
            <a:ext cx="16002000" cy="553998"/>
          </a:xfrm>
          <a:prstGeom prst="rect">
            <a:avLst/>
          </a:prstGeom>
          <a:noFill/>
        </p:spPr>
        <p:txBody>
          <a:bodyPr vert="horz" rtlCol="0">
            <a:spAutoFit/>
          </a:bodyPr>
          <a:lstStyle/>
          <a:p>
            <a:r>
              <a:rPr lang="en-US" sz="3000" b="1"/>
              <a:t>4. Folder structure (Part 3)</a:t>
            </a:r>
          </a:p>
        </p:txBody>
      </p:sp>
      <p:sp>
        <p:nvSpPr>
          <p:cNvPr id="3" name="TextBox 2">
            <a:extLst>
              <a:ext uri="{FF2B5EF4-FFF2-40B4-BE49-F238E27FC236}">
                <a16:creationId xmlns:a16="http://schemas.microsoft.com/office/drawing/2014/main" id="{384B2AF8-2BBF-8845-F8E5-E3ED700B3D76}"/>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 FrameworkIndex.json</a:t>
            </a:r>
          </a:p>
          <a:p>
            <a:pPr marL="342900" indent="-342900">
              <a:buFont typeface="+mj-lt"/>
              <a:buAutoNum type="arabicPeriod"/>
            </a:pPr>
            <a:r>
              <a:rPr lang="en-US"/>
              <a:t>|- LiveObservations.json</a:t>
            </a:r>
          </a:p>
          <a:p>
            <a:pPr marL="342900" indent="-342900">
              <a:buFont typeface="+mj-lt"/>
              <a:buAutoNum type="arabicPeriod"/>
            </a:pPr>
            <a:r>
              <a:rPr lang="en-US"/>
              <a:t>|- TableLocatorMetadata.json</a:t>
            </a:r>
          </a:p>
          <a:p>
            <a:pPr marL="342900" indent="-342900">
              <a:buFont typeface="+mj-lt"/>
              <a:buAutoNum type="arabicPeriod"/>
            </a:pPr>
            <a:r>
              <a:rPr lang="en-US"/>
              <a:t>|- playwright.config.ts</a:t>
            </a:r>
          </a:p>
          <a:p>
            <a:pPr marL="342900" indent="-342900">
              <a:buFont typeface="+mj-lt"/>
              <a:buAutoNum type="arabicPeriod"/>
            </a:pPr>
            <a:r>
              <a:rPr lang="en-US"/>
              <a:t>`- other folders (roadmap/history, not daily)</a:t>
            </a:r>
          </a:p>
          <a:p>
            <a:pPr marL="342900" indent="-342900">
              <a:buFont typeface="+mj-lt"/>
              <a:buAutoNum type="arabicPeriod"/>
            </a:pPr>
            <a:r>
              <a:rPr lang="en-US"/>
              <a:t>Why both C# generator and AI agent exist:</a:t>
            </a:r>
          </a:p>
          <a:p>
            <a:pPr marL="342900" indent="-342900">
              <a:buFont typeface="+mj-lt"/>
              <a:buAutoNum type="arabicPeriod"/>
            </a:pPr>
            <a:r>
              <a:rPr lang="en-US"/>
              <a:t>Code.cs is a faithful mechanical replay draft. Agent output is the real framework deliverable (Feature/Steps/Methods/Objects).</a:t>
            </a:r>
          </a:p>
        </p:txBody>
      </p:sp>
    </p:spTree>
    <p:extLst>
      <p:ext uri="{BB962C8B-B14F-4D97-AF65-F5344CB8AC3E}">
        <p14:creationId xmlns:p14="http://schemas.microsoft.com/office/powerpoint/2010/main" val="4080781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19EC86-2E98-566B-10DE-D159EFDA5F21}"/>
              </a:ext>
            </a:extLst>
          </p:cNvPr>
          <p:cNvSpPr txBox="1"/>
          <p:nvPr/>
        </p:nvSpPr>
        <p:spPr>
          <a:xfrm>
            <a:off x="381000" y="254000"/>
            <a:ext cx="16002000" cy="553998"/>
          </a:xfrm>
          <a:prstGeom prst="rect">
            <a:avLst/>
          </a:prstGeom>
          <a:noFill/>
        </p:spPr>
        <p:txBody>
          <a:bodyPr vert="horz" rtlCol="0">
            <a:spAutoFit/>
          </a:bodyPr>
          <a:lstStyle/>
          <a:p>
            <a:r>
              <a:rPr lang="en-US" sz="3000" b="1"/>
              <a:t>5. File-by-file reference (active files) (Part 4)</a:t>
            </a:r>
          </a:p>
        </p:txBody>
      </p:sp>
      <p:sp>
        <p:nvSpPr>
          <p:cNvPr id="3" name="TextBox 2">
            <a:extLst>
              <a:ext uri="{FF2B5EF4-FFF2-40B4-BE49-F238E27FC236}">
                <a16:creationId xmlns:a16="http://schemas.microsoft.com/office/drawing/2014/main" id="{0EF0089A-5D62-F71C-5FA1-895929264E66}"/>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5.1 Root folder</a:t>
            </a:r>
          </a:p>
          <a:p>
            <a:pPr marL="342900" indent="-342900">
              <a:buFont typeface="+mj-lt"/>
              <a:buAutoNum type="arabicPeriod"/>
            </a:pPr>
            <a:r>
              <a:rPr lang="en-US"/>
              <a:t>StartCodegen.ps1: Orchestrator; launches codegen, watcher, intelligence, final generation, and cleanup.</a:t>
            </a:r>
          </a:p>
          <a:p>
            <a:pPr marL="342900" indent="-342900">
              <a:buFont typeface="+mj-lt"/>
              <a:buAutoNum type="arabicPeriod"/>
            </a:pPr>
            <a:r>
              <a:rPr lang="en-US"/>
              <a:t>Code.ts: Recorded Playwright flow; overwritten each run; may be rewritten by table engine.</a:t>
            </a:r>
          </a:p>
          <a:p>
            <a:pPr marL="342900" indent="-342900">
              <a:buFont typeface="+mj-lt"/>
              <a:buAutoNum type="arabicPeriod"/>
            </a:pPr>
            <a:r>
              <a:rPr lang="en-US"/>
              <a:t>Code.cs: Generated C# replay class with locator properties and segmented methods.</a:t>
            </a:r>
          </a:p>
          <a:p>
            <a:pPr marL="342900" indent="-342900">
              <a:buFont typeface="+mj-lt"/>
              <a:buAutoNum type="arabicPeriod"/>
            </a:pPr>
            <a:r>
              <a:rPr lang="en-US"/>
              <a:t>CSharpGenerationReport.json: conversion audit (actionCount, sourceMap, unsupportedActions, validation).</a:t>
            </a:r>
          </a:p>
          <a:p>
            <a:pPr marL="342900" indent="-342900">
              <a:buFont typeface="+mj-lt"/>
              <a:buAutoNum type="arabicPeriod"/>
            </a:pPr>
            <a:r>
              <a:rPr lang="en-US"/>
              <a:t>5.2 AIRecorder/auth - session handling</a:t>
            </a:r>
          </a:p>
          <a:p>
            <a:pPr marL="342900" indent="-342900">
              <a:buFont typeface="+mj-lt"/>
              <a:buAutoNum type="arabicPeriod"/>
            </a:pPr>
            <a:r>
              <a:rPr lang="en-US"/>
              <a:t>SessionManager.ps1: validates session, initializes session path, builds codegen args.</a:t>
            </a:r>
          </a:p>
        </p:txBody>
      </p:sp>
    </p:spTree>
    <p:extLst>
      <p:ext uri="{BB962C8B-B14F-4D97-AF65-F5344CB8AC3E}">
        <p14:creationId xmlns:p14="http://schemas.microsoft.com/office/powerpoint/2010/main" val="1590177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CA4274-FBB4-F9B8-2C88-85179543C2CA}"/>
              </a:ext>
            </a:extLst>
          </p:cNvPr>
          <p:cNvSpPr txBox="1"/>
          <p:nvPr/>
        </p:nvSpPr>
        <p:spPr>
          <a:xfrm>
            <a:off x="381000" y="254000"/>
            <a:ext cx="16002000" cy="553998"/>
          </a:xfrm>
          <a:prstGeom prst="rect">
            <a:avLst/>
          </a:prstGeom>
          <a:noFill/>
        </p:spPr>
        <p:txBody>
          <a:bodyPr vert="horz" rtlCol="0">
            <a:spAutoFit/>
          </a:bodyPr>
          <a:lstStyle/>
          <a:p>
            <a:r>
              <a:rPr lang="en-US" sz="3000" b="1"/>
              <a:t>5. File-by-file reference (active files) (Part 5)</a:t>
            </a:r>
          </a:p>
        </p:txBody>
      </p:sp>
      <p:sp>
        <p:nvSpPr>
          <p:cNvPr id="3" name="TextBox 2">
            <a:extLst>
              <a:ext uri="{FF2B5EF4-FFF2-40B4-BE49-F238E27FC236}">
                <a16:creationId xmlns:a16="http://schemas.microsoft.com/office/drawing/2014/main" id="{86C18658-B36E-1BB1-1E5D-96A6E33173DC}"/>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PostProcessCodegen.ps1: fallback wrapper to run table locator intelligence.</a:t>
            </a:r>
          </a:p>
          <a:p>
            <a:pPr marL="342900" indent="-342900">
              <a:buFont typeface="+mj-lt"/>
              <a:buAutoNum type="arabicPeriod"/>
            </a:pPr>
            <a:r>
              <a:rPr lang="en-US"/>
              <a:t>session.helper.ts: TS helper for session validity checks.</a:t>
            </a:r>
          </a:p>
          <a:p>
            <a:pPr marL="342900" indent="-342900">
              <a:buFont typeface="+mj-lt"/>
              <a:buAutoNum type="arabicPeriod"/>
            </a:pPr>
            <a:r>
              <a:rPr lang="en-US"/>
              <a:t>session.json: storage state cookies/local storage; sensitive.</a:t>
            </a:r>
          </a:p>
          <a:p>
            <a:pPr marL="342900" indent="-342900">
              <a:buFont typeface="+mj-lt"/>
              <a:buAutoNum type="arabicPeriod"/>
            </a:pPr>
            <a:r>
              <a:rPr lang="en-US"/>
              <a:t>5.3 AIRecorder/Intelligence - observe and improve locators</a:t>
            </a:r>
          </a:p>
          <a:p>
            <a:pPr marL="342900" indent="-342900">
              <a:buFont typeface="+mj-lt"/>
              <a:buAutoNum type="arabicPeriod"/>
            </a:pPr>
            <a:r>
              <a:rPr lang="en-US"/>
              <a:t>LiveObserver.cjs: replays actions headless, resolves elements, captures table/frame/context evidence.</a:t>
            </a:r>
          </a:p>
          <a:p>
            <a:pPr marL="342900" indent="-342900">
              <a:buFont typeface="+mj-lt"/>
              <a:buAutoNum type="arabicPeriod"/>
            </a:pPr>
            <a:r>
              <a:rPr lang="en-US"/>
              <a:t>LiveTableLocatorEngine.cjs: coordinates observation and rewrite; writes summary artifacts.</a:t>
            </a:r>
          </a:p>
          <a:p>
            <a:pPr marL="342900" indent="-342900">
              <a:buFont typeface="+mj-lt"/>
              <a:buAutoNum type="arabicPeriod"/>
            </a:pPr>
            <a:r>
              <a:rPr lang="en-US"/>
              <a:t>TableLocatorIntelligence.cjs: scoring/rule engine for stable locator candidate selection.</a:t>
            </a:r>
          </a:p>
        </p:txBody>
      </p:sp>
    </p:spTree>
    <p:extLst>
      <p:ext uri="{BB962C8B-B14F-4D97-AF65-F5344CB8AC3E}">
        <p14:creationId xmlns:p14="http://schemas.microsoft.com/office/powerpoint/2010/main" val="3833654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1609FC-A7E4-D706-AACD-B92E5B0EE684}"/>
              </a:ext>
            </a:extLst>
          </p:cNvPr>
          <p:cNvSpPr txBox="1"/>
          <p:nvPr/>
        </p:nvSpPr>
        <p:spPr>
          <a:xfrm>
            <a:off x="381000" y="254000"/>
            <a:ext cx="16002000" cy="553998"/>
          </a:xfrm>
          <a:prstGeom prst="rect">
            <a:avLst/>
          </a:prstGeom>
          <a:noFill/>
        </p:spPr>
        <p:txBody>
          <a:bodyPr vert="horz" rtlCol="0">
            <a:spAutoFit/>
          </a:bodyPr>
          <a:lstStyle/>
          <a:p>
            <a:r>
              <a:rPr lang="en-US" sz="3000" b="1"/>
              <a:t>5. File-by-file reference (active files) (Part 6)</a:t>
            </a:r>
          </a:p>
        </p:txBody>
      </p:sp>
      <p:sp>
        <p:nvSpPr>
          <p:cNvPr id="3" name="TextBox 2">
            <a:extLst>
              <a:ext uri="{FF2B5EF4-FFF2-40B4-BE49-F238E27FC236}">
                <a16:creationId xmlns:a16="http://schemas.microsoft.com/office/drawing/2014/main" id="{2D8E9A4B-1B27-1DD7-C611-A4E293A1420E}"/>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SpecificLocatorRules.json: custom overrides for problematic elements.</a:t>
            </a:r>
          </a:p>
          <a:p>
            <a:pPr marL="342900" indent="-342900">
              <a:buFont typeface="+mj-lt"/>
              <a:buAutoNum type="arabicPeriod"/>
            </a:pPr>
            <a:r>
              <a:rPr lang="en-US"/>
              <a:t>TableLocatorIntelligence.md: design and strategy notes.</a:t>
            </a:r>
          </a:p>
          <a:p>
            <a:pPr marL="342900" indent="-342900">
              <a:buFont typeface="+mj-lt"/>
              <a:buAutoNum type="arabicPeriod"/>
            </a:pPr>
            <a:r>
              <a:rPr lang="en-US"/>
              <a:t>*.test.cjs: tests for observer/engine/intelligence.</a:t>
            </a:r>
          </a:p>
          <a:p>
            <a:pPr marL="342900" indent="-342900">
              <a:buFont typeface="+mj-lt"/>
              <a:buAutoNum type="arabicPeriod"/>
            </a:pPr>
            <a:r>
              <a:rPr lang="en-US"/>
              <a:t>5.4 AIRecorder/Generator - TypeScript to C#</a:t>
            </a:r>
          </a:p>
          <a:p>
            <a:pPr marL="342900" indent="-342900">
              <a:buFont typeface="+mj-lt"/>
              <a:buAutoNum type="arabicPeriod"/>
            </a:pPr>
            <a:r>
              <a:rPr lang="en-US"/>
              <a:t>CSharpCodeGenerator.cjs: parses TS lines, generates C#, adds waits, maps URLs to config, validates output.</a:t>
            </a:r>
          </a:p>
          <a:p>
            <a:pPr marL="342900" indent="-342900">
              <a:buFont typeface="+mj-lt"/>
              <a:buAutoNum type="arabicPeriod"/>
            </a:pPr>
            <a:r>
              <a:rPr lang="en-US"/>
              <a:t>CSharpLiveSync.cjs: watches Code.ts and regenerates Code.cs with debounce/hash checks.</a:t>
            </a:r>
          </a:p>
          <a:p>
            <a:pPr marL="342900" indent="-342900">
              <a:buFont typeface="+mj-lt"/>
              <a:buAutoNum type="arabicPeriod"/>
            </a:pPr>
            <a:r>
              <a:rPr lang="en-US"/>
              <a:t>*.test.cjs: generator/watcher tests.</a:t>
            </a:r>
          </a:p>
        </p:txBody>
      </p:sp>
    </p:spTree>
    <p:extLst>
      <p:ext uri="{BB962C8B-B14F-4D97-AF65-F5344CB8AC3E}">
        <p14:creationId xmlns:p14="http://schemas.microsoft.com/office/powerpoint/2010/main" val="1954012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29CFCB-E6A7-5763-1A36-6A734AE9A442}"/>
              </a:ext>
            </a:extLst>
          </p:cNvPr>
          <p:cNvSpPr txBox="1"/>
          <p:nvPr/>
        </p:nvSpPr>
        <p:spPr>
          <a:xfrm>
            <a:off x="381000" y="254000"/>
            <a:ext cx="16002000" cy="553998"/>
          </a:xfrm>
          <a:prstGeom prst="rect">
            <a:avLst/>
          </a:prstGeom>
          <a:noFill/>
        </p:spPr>
        <p:txBody>
          <a:bodyPr vert="horz" rtlCol="0">
            <a:spAutoFit/>
          </a:bodyPr>
          <a:lstStyle/>
          <a:p>
            <a:r>
              <a:rPr lang="en-US" sz="3000" b="1"/>
              <a:t>5. File-by-file reference (active files) (Part 7)</a:t>
            </a:r>
          </a:p>
        </p:txBody>
      </p:sp>
      <p:sp>
        <p:nvSpPr>
          <p:cNvPr id="3" name="TextBox 2">
            <a:extLst>
              <a:ext uri="{FF2B5EF4-FFF2-40B4-BE49-F238E27FC236}">
                <a16:creationId xmlns:a16="http://schemas.microsoft.com/office/drawing/2014/main" id="{1EC11872-80A6-060C-12F1-161CF078FE76}"/>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FrameworkRules.ts, PromptAssembler.ts, PromptTemplates.ts, others: earlier prompt-building support code.</a:t>
            </a:r>
          </a:p>
          <a:p>
            <a:pPr marL="342900" indent="-342900">
              <a:buFont typeface="+mj-lt"/>
              <a:buAutoNum type="arabicPeriod"/>
            </a:pPr>
            <a:r>
              <a:rPr lang="en-US"/>
              <a:t>5.5 AIRecorder/Debug - failure analysis engine</a:t>
            </a:r>
          </a:p>
          <a:p>
            <a:pPr marL="342900" indent="-342900">
              <a:buFont typeface="+mj-lt"/>
              <a:buAutoNum type="arabicPeriod"/>
            </a:pPr>
            <a:r>
              <a:rPr lang="en-US"/>
              <a:t>DebugEngine.cjs: run-test loop, evidence collection, classification, proposal, validation, apply/retry.</a:t>
            </a:r>
          </a:p>
          <a:p>
            <a:pPr marL="342900" indent="-342900">
              <a:buFont typeface="+mj-lt"/>
              <a:buAutoNum type="arabicPeriod"/>
            </a:pPr>
            <a:r>
              <a:rPr lang="en-US"/>
              <a:t>FailureCollector.cjs: extracts failure details and stores artifacts.</a:t>
            </a:r>
          </a:p>
          <a:p>
            <a:pPr marL="342900" indent="-342900">
              <a:buFont typeface="+mj-lt"/>
              <a:buAutoNum type="arabicPeriod"/>
            </a:pPr>
            <a:r>
              <a:rPr lang="en-US"/>
              <a:t>BrowserEvidenceCollector.cjs: browser replay to gather candidate elements and page state.</a:t>
            </a:r>
          </a:p>
          <a:p>
            <a:pPr marL="342900" indent="-342900">
              <a:buFont typeface="+mj-lt"/>
              <a:buAutoNum type="arabicPeriod"/>
            </a:pPr>
            <a:r>
              <a:rPr lang="en-US"/>
              <a:t>FailureClassifier.cjs: classifies failures with confidence and recommendations.</a:t>
            </a:r>
          </a:p>
          <a:p>
            <a:pPr marL="342900" indent="-342900">
              <a:buFont typeface="+mj-lt"/>
              <a:buAutoNum type="arabicPeriod"/>
            </a:pPr>
            <a:r>
              <a:rPr lang="en-US"/>
              <a:t>FixProposalEngine.cjs: deterministic safe fix proposals and optional apply/revert.</a:t>
            </a:r>
          </a:p>
        </p:txBody>
      </p:sp>
    </p:spTree>
    <p:extLst>
      <p:ext uri="{BB962C8B-B14F-4D97-AF65-F5344CB8AC3E}">
        <p14:creationId xmlns:p14="http://schemas.microsoft.com/office/powerpoint/2010/main" val="608866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92C6DD-BAD3-2FD7-7BFF-8DA56627774C}"/>
              </a:ext>
            </a:extLst>
          </p:cNvPr>
          <p:cNvSpPr txBox="1"/>
          <p:nvPr/>
        </p:nvSpPr>
        <p:spPr>
          <a:xfrm>
            <a:off x="381000" y="254000"/>
            <a:ext cx="16002000" cy="553998"/>
          </a:xfrm>
          <a:prstGeom prst="rect">
            <a:avLst/>
          </a:prstGeom>
          <a:noFill/>
        </p:spPr>
        <p:txBody>
          <a:bodyPr vert="horz" rtlCol="0">
            <a:spAutoFit/>
          </a:bodyPr>
          <a:lstStyle/>
          <a:p>
            <a:r>
              <a:rPr lang="en-US" sz="3000" b="1"/>
              <a:t>5. File-by-file reference (active files) (Part 8)</a:t>
            </a:r>
          </a:p>
        </p:txBody>
      </p:sp>
      <p:sp>
        <p:nvSpPr>
          <p:cNvPr id="3" name="TextBox 2">
            <a:extLst>
              <a:ext uri="{FF2B5EF4-FFF2-40B4-BE49-F238E27FC236}">
                <a16:creationId xmlns:a16="http://schemas.microsoft.com/office/drawing/2014/main" id="{26C2B61E-F2CC-0ECC-7267-1F58EB328E10}"/>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DebugAIAnalyzer.cjs, DebugPromptBuilder.cjs: optional AI-assisted analysis.</a:t>
            </a:r>
          </a:p>
          <a:p>
            <a:pPr marL="342900" indent="-342900">
              <a:buFont typeface="+mj-lt"/>
              <a:buAutoNum type="arabicPeriod"/>
            </a:pPr>
            <a:r>
              <a:rPr lang="en-US"/>
              <a:t>ProposalValidator.cjs: validates proposal safety and novelty.</a:t>
            </a:r>
          </a:p>
          <a:p>
            <a:pPr marL="342900" indent="-342900">
              <a:buFont typeface="+mj-lt"/>
              <a:buAutoNum type="arabicPeriod"/>
            </a:pPr>
            <a:r>
              <a:rPr lang="en-US"/>
              <a:t>DebugPayloadRedactor.cjs: redacts sensitive data.</a:t>
            </a:r>
          </a:p>
          <a:p>
            <a:pPr marL="342900" indent="-342900">
              <a:buFont typeface="+mj-lt"/>
              <a:buAutoNum type="arabicPeriod"/>
            </a:pPr>
            <a:r>
              <a:rPr lang="en-US"/>
              <a:t>DebugPointBuilder.cjs, DebugPointManager.cjs: debug-point summaries and debug copy creation.</a:t>
            </a:r>
          </a:p>
          <a:p>
            <a:pPr marL="342900" indent="-342900">
              <a:buFont typeface="+mj-lt"/>
              <a:buAutoNum type="arabicPeriod"/>
            </a:pPr>
            <a:r>
              <a:rPr lang="en-US"/>
              <a:t>DebugHistory.cjs: tracks historical debug outcomes.</a:t>
            </a:r>
          </a:p>
          <a:p>
            <a:pPr marL="342900" indent="-342900">
              <a:buFont typeface="+mj-lt"/>
              <a:buAutoNum type="arabicPeriod"/>
            </a:pPr>
            <a:r>
              <a:rPr lang="en-US"/>
              <a:t>DebugEngine.test.cjs: debug engine tests.</a:t>
            </a:r>
          </a:p>
          <a:p>
            <a:pPr marL="342900" indent="-342900">
              <a:buFont typeface="+mj-lt"/>
              <a:buAutoNum type="arabicPeriod"/>
            </a:pPr>
            <a:r>
              <a:rPr lang="en-US"/>
              <a:t>5.6 Prompt and rule files</a:t>
            </a:r>
          </a:p>
        </p:txBody>
      </p:sp>
    </p:spTree>
    <p:extLst>
      <p:ext uri="{BB962C8B-B14F-4D97-AF65-F5344CB8AC3E}">
        <p14:creationId xmlns:p14="http://schemas.microsoft.com/office/powerpoint/2010/main" val="3584243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E8C3EE-5331-2866-9D0E-A97F7D3B12EF}"/>
              </a:ext>
            </a:extLst>
          </p:cNvPr>
          <p:cNvSpPr txBox="1"/>
          <p:nvPr/>
        </p:nvSpPr>
        <p:spPr>
          <a:xfrm>
            <a:off x="381000" y="254000"/>
            <a:ext cx="16002000" cy="553998"/>
          </a:xfrm>
          <a:prstGeom prst="rect">
            <a:avLst/>
          </a:prstGeom>
          <a:noFill/>
        </p:spPr>
        <p:txBody>
          <a:bodyPr vert="horz" rtlCol="0">
            <a:spAutoFit/>
          </a:bodyPr>
          <a:lstStyle/>
          <a:p>
            <a:r>
              <a:rPr lang="en-US" sz="3000" b="1"/>
              <a:t>5. File-by-file reference (active files) (Part 9)</a:t>
            </a:r>
          </a:p>
        </p:txBody>
      </p:sp>
      <p:sp>
        <p:nvSpPr>
          <p:cNvPr id="3" name="TextBox 2">
            <a:extLst>
              <a:ext uri="{FF2B5EF4-FFF2-40B4-BE49-F238E27FC236}">
                <a16:creationId xmlns:a16="http://schemas.microsoft.com/office/drawing/2014/main" id="{B6D36FEB-B17E-47A5-16AA-AA7C3DBB01CE}"/>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FrameworkPrompt.md: main generation rules (URLs, features, reuse, waits, assertions, Excel, locators, method/step quality).</a:t>
            </a:r>
          </a:p>
          <a:p>
            <a:pPr marL="342900" indent="-342900">
              <a:buFont typeface="+mj-lt"/>
              <a:buAutoNum type="arabicPeriod"/>
            </a:pPr>
            <a:r>
              <a:rPr lang="en-US"/>
              <a:t>FrameworkContext.md: framework fact sheet (stack, folders, naming, coding style).</a:t>
            </a:r>
          </a:p>
          <a:p>
            <a:pPr marL="342900" indent="-342900">
              <a:buFont typeface="+mj-lt"/>
              <a:buAutoNum type="arabicPeriod"/>
            </a:pPr>
            <a:r>
              <a:rPr lang="en-US"/>
              <a:t>Instruction.docx: original usage note and hand-off instructions.</a:t>
            </a:r>
          </a:p>
          <a:p>
            <a:pPr marL="342900" indent="-342900">
              <a:buFont typeface="+mj-lt"/>
              <a:buAutoNum type="arabicPeriod"/>
            </a:pPr>
            <a:r>
              <a:rPr lang="en-US"/>
              <a:t>FeaturePrompt.md / FeatureGenerationPrompt.md / ExcelGenerationPrompt.md: focused generation prompts.</a:t>
            </a:r>
          </a:p>
          <a:p>
            <a:pPr marL="342900" indent="-342900">
              <a:buFont typeface="+mj-lt"/>
              <a:buAutoNum type="arabicPeriod"/>
            </a:pPr>
            <a:r>
              <a:rPr lang="en-US"/>
              <a:t>ExecutePrompt.md / TraceAnalysisPrompt.md / ImprovementPrompt.md / SelfHealingPrompt.md: post-generation operations.</a:t>
            </a:r>
          </a:p>
          <a:p>
            <a:pPr marL="342900" indent="-342900">
              <a:buFont typeface="+mj-lt"/>
              <a:buAutoNum type="arabicPeriod"/>
            </a:pPr>
            <a:r>
              <a:rPr lang="en-US"/>
              <a:t>5.7 Generated and data files</a:t>
            </a:r>
          </a:p>
          <a:p>
            <a:pPr marL="342900" indent="-342900">
              <a:buFont typeface="+mj-lt"/>
              <a:buAutoNum type="arabicPeriod"/>
            </a:pPr>
            <a:r>
              <a:rPr lang="en-US"/>
              <a:t>LiveObservations.json: evidence per action.</a:t>
            </a:r>
          </a:p>
        </p:txBody>
      </p:sp>
    </p:spTree>
    <p:extLst>
      <p:ext uri="{BB962C8B-B14F-4D97-AF65-F5344CB8AC3E}">
        <p14:creationId xmlns:p14="http://schemas.microsoft.com/office/powerpoint/2010/main" val="3195534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9479CE-895E-766B-674B-1FB6146CE3CB}"/>
              </a:ext>
            </a:extLst>
          </p:cNvPr>
          <p:cNvSpPr txBox="1"/>
          <p:nvPr/>
        </p:nvSpPr>
        <p:spPr>
          <a:xfrm>
            <a:off x="381000" y="254000"/>
            <a:ext cx="16002000" cy="553998"/>
          </a:xfrm>
          <a:prstGeom prst="rect">
            <a:avLst/>
          </a:prstGeom>
          <a:noFill/>
        </p:spPr>
        <p:txBody>
          <a:bodyPr vert="horz" rtlCol="0">
            <a:spAutoFit/>
          </a:bodyPr>
          <a:lstStyle/>
          <a:p>
            <a:r>
              <a:rPr lang="en-US" sz="3000" b="1"/>
              <a:t>5. File-by-file reference (active files) (Part 10)</a:t>
            </a:r>
          </a:p>
        </p:txBody>
      </p:sp>
      <p:sp>
        <p:nvSpPr>
          <p:cNvPr id="3" name="TextBox 2">
            <a:extLst>
              <a:ext uri="{FF2B5EF4-FFF2-40B4-BE49-F238E27FC236}">
                <a16:creationId xmlns:a16="http://schemas.microsoft.com/office/drawing/2014/main" id="{0B784FA8-468D-C4F4-C83D-C14F2AB9AF50}"/>
              </a:ext>
            </a:extLst>
          </p:cNvPr>
          <p:cNvSpPr txBox="1"/>
          <p:nvPr/>
        </p:nvSpPr>
        <p:spPr>
          <a:xfrm>
            <a:off x="508000" y="1270000"/>
            <a:ext cx="15494000" cy="1200329"/>
          </a:xfrm>
          <a:prstGeom prst="rect">
            <a:avLst/>
          </a:prstGeom>
          <a:noFill/>
        </p:spPr>
        <p:txBody>
          <a:bodyPr vert="horz" rtlCol="0">
            <a:spAutoFit/>
          </a:bodyPr>
          <a:lstStyle/>
          <a:p>
            <a:pPr marL="342900" indent="-342900">
              <a:buFont typeface="+mj-lt"/>
              <a:buAutoNum type="arabicPeriod"/>
            </a:pPr>
            <a:r>
              <a:rPr lang="en-US"/>
              <a:t>TableLocatorMetadata.json: rewrite strategies and candidate scoring.</a:t>
            </a:r>
          </a:p>
          <a:p>
            <a:pPr marL="342900" indent="-342900">
              <a:buFont typeface="+mj-lt"/>
              <a:buAutoNum type="arabicPeriod"/>
            </a:pPr>
            <a:r>
              <a:rPr lang="en-US"/>
              <a:t>FrameworkIndex.json: map of page to feature/steps/methods/objects.</a:t>
            </a:r>
          </a:p>
          <a:p>
            <a:pPr marL="342900" indent="-342900">
              <a:buFont typeface="+mj-lt"/>
              <a:buAutoNum type="arabicPeriod"/>
            </a:pPr>
            <a:r>
              <a:rPr lang="en-US"/>
              <a:t>playwright.config.ts: direct Playwright run config for Code.ts.</a:t>
            </a:r>
          </a:p>
          <a:p>
            <a:pPr marL="342900" indent="-342900">
              <a:buFont typeface="+mj-lt"/>
              <a:buAutoNum type="arabicPeriod"/>
            </a:pPr>
            <a:r>
              <a:rPr lang="en-US"/>
              <a:t>BusinessFlow.json, FlowAnalysis.json, DependencyGraph.json, AIResponseExample.json: older analysis artifacts; mostly historical.</a:t>
            </a:r>
          </a:p>
        </p:txBody>
      </p:sp>
    </p:spTree>
    <p:extLst>
      <p:ext uri="{BB962C8B-B14F-4D97-AF65-F5344CB8AC3E}">
        <p14:creationId xmlns:p14="http://schemas.microsoft.com/office/powerpoint/2010/main" val="35575124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01E34D-63D2-CEFA-E44F-2E01A2FA4381}"/>
              </a:ext>
            </a:extLst>
          </p:cNvPr>
          <p:cNvSpPr txBox="1"/>
          <p:nvPr/>
        </p:nvSpPr>
        <p:spPr>
          <a:xfrm>
            <a:off x="381000" y="254000"/>
            <a:ext cx="16002000" cy="553998"/>
          </a:xfrm>
          <a:prstGeom prst="rect">
            <a:avLst/>
          </a:prstGeom>
          <a:noFill/>
        </p:spPr>
        <p:txBody>
          <a:bodyPr vert="horz" rtlCol="0">
            <a:spAutoFit/>
          </a:bodyPr>
          <a:lstStyle/>
          <a:p>
            <a:r>
              <a:rPr lang="en-US" sz="3000" b="1"/>
              <a:t>6. Worked example from sample run (Part 1)</a:t>
            </a:r>
          </a:p>
        </p:txBody>
      </p:sp>
      <p:sp>
        <p:nvSpPr>
          <p:cNvPr id="3" name="TextBox 2">
            <a:extLst>
              <a:ext uri="{FF2B5EF4-FFF2-40B4-BE49-F238E27FC236}">
                <a16:creationId xmlns:a16="http://schemas.microsoft.com/office/drawing/2014/main" id="{C8C0AE80-39C9-9F59-D29D-ACB36A31FC5C}"/>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Flow: open app -&gt; CMBS -&gt; Create Order -&gt; fill details -&gt; Search -&gt; add property -&gt; Save &amp; Submit.</a:t>
            </a:r>
          </a:p>
          <a:p>
            <a:pPr marL="342900" indent="-342900">
              <a:buFont typeface="+mj-lt"/>
              <a:buAutoNum type="arabicPeriod"/>
            </a:pPr>
            <a:r>
              <a:rPr lang="en-US"/>
              <a:t>6.1 Locator rewrite inside table</a:t>
            </a:r>
          </a:p>
          <a:p>
            <a:pPr marL="342900" indent="-342900">
              <a:buFont typeface="+mj-lt"/>
              <a:buAutoNum type="arabicPeriod"/>
            </a:pPr>
            <a:r>
              <a:rPr lang="en-US"/>
              <a:t>Before: page.locator('#ctl00_ContentPlaceHolder1_ddlLoanType_Arrow')</a:t>
            </a:r>
          </a:p>
          <a:p>
            <a:pPr marL="342900" indent="-342900">
              <a:buFont typeface="+mj-lt"/>
              <a:buAutoNum type="arabicPeriod"/>
            </a:pPr>
            <a:r>
              <a:rPr lang="en-US"/>
              <a:t>After: page.locator("//a[@id='ctl00_ContentPlaceHolder1_ddlLoanType_Arrow']")</a:t>
            </a:r>
          </a:p>
          <a:p>
            <a:pPr marL="342900" indent="-342900">
              <a:buFont typeface="+mj-lt"/>
              <a:buAutoNum type="arabicPeriod"/>
            </a:pPr>
            <a:r>
              <a:rPr lang="en-US"/>
              <a:t>Metadata: strategy=TABLE_FORCED_LOCATOR, confidence=0.64, uniqueMatch=true</a:t>
            </a:r>
          </a:p>
          <a:p>
            <a:pPr marL="342900" indent="-342900">
              <a:buFont typeface="+mj-lt"/>
              <a:buAutoNum type="arabicPeriod"/>
            </a:pPr>
            <a:r>
              <a:rPr lang="en-US"/>
              <a:t>6.2 TypeScript line to C# statements</a:t>
            </a:r>
          </a:p>
          <a:p>
            <a:pPr marL="342900" indent="-342900">
              <a:buFont typeface="+mj-lt"/>
              <a:buAutoNum type="arabicPeriod"/>
            </a:pPr>
            <a:r>
              <a:rPr lang="en-US"/>
              <a:t>TS: await page.getByRole('link', { name: 'CMBS' }).click();</a:t>
            </a:r>
          </a:p>
        </p:txBody>
      </p:sp>
    </p:spTree>
    <p:extLst>
      <p:ext uri="{BB962C8B-B14F-4D97-AF65-F5344CB8AC3E}">
        <p14:creationId xmlns:p14="http://schemas.microsoft.com/office/powerpoint/2010/main" val="11715454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500806-ACB6-F635-DD25-BDAD07A04F3E}"/>
              </a:ext>
            </a:extLst>
          </p:cNvPr>
          <p:cNvSpPr txBox="1"/>
          <p:nvPr/>
        </p:nvSpPr>
        <p:spPr>
          <a:xfrm>
            <a:off x="381000" y="254000"/>
            <a:ext cx="16002000" cy="553998"/>
          </a:xfrm>
          <a:prstGeom prst="rect">
            <a:avLst/>
          </a:prstGeom>
          <a:noFill/>
        </p:spPr>
        <p:txBody>
          <a:bodyPr vert="horz" rtlCol="0">
            <a:spAutoFit/>
          </a:bodyPr>
          <a:lstStyle/>
          <a:p>
            <a:r>
              <a:rPr lang="en-US" sz="3000" b="1"/>
              <a:t>6. Worked example from sample run (Part 2)</a:t>
            </a:r>
          </a:p>
        </p:txBody>
      </p:sp>
      <p:sp>
        <p:nvSpPr>
          <p:cNvPr id="3" name="TextBox 2">
            <a:extLst>
              <a:ext uri="{FF2B5EF4-FFF2-40B4-BE49-F238E27FC236}">
                <a16:creationId xmlns:a16="http://schemas.microsoft.com/office/drawing/2014/main" id="{D125413D-A6AC-B5F6-A2BF-BA75EA9D5180}"/>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C#: locator property + WaitForAsync + ClickAsync statements</a:t>
            </a:r>
          </a:p>
          <a:p>
            <a:pPr marL="342900" indent="-342900">
              <a:buFont typeface="+mj-lt"/>
              <a:buAutoNum type="arabicPeriod"/>
            </a:pPr>
            <a:r>
              <a:rPr lang="en-US"/>
              <a:t>6.3 Enterprise mode</a:t>
            </a:r>
          </a:p>
          <a:p>
            <a:pPr marL="342900" indent="-342900">
              <a:buFont typeface="+mj-lt"/>
              <a:buAutoNum type="arabicPeriod"/>
            </a:pPr>
            <a:r>
              <a:rPr lang="en-US"/>
              <a:t>Long flows are split into smaller methods (Part1Async...PartNAsync) and orchestrated by higher-level methods.</a:t>
            </a:r>
          </a:p>
          <a:p>
            <a:pPr marL="342900" indent="-342900">
              <a:buFont typeface="+mj-lt"/>
              <a:buAutoNum type="arabicPeriod"/>
            </a:pPr>
            <a:r>
              <a:rPr lang="en-US"/>
              <a:t>6.4 Review comments meaning</a:t>
            </a:r>
          </a:p>
          <a:p>
            <a:pPr marL="342900" indent="-342900">
              <a:buFont typeface="+mj-lt"/>
              <a:buAutoNum type="arabicPeriod"/>
            </a:pPr>
            <a:r>
              <a:rPr lang="en-US"/>
              <a:t>- Literal input preserved -&gt; move to Excel data.</a:t>
            </a:r>
          </a:p>
          <a:p>
            <a:pPr marL="342900" indent="-342900">
              <a:buFont typeface="+mj-lt"/>
              <a:buAutoNum type="arabicPeriod"/>
            </a:pPr>
            <a:r>
              <a:rPr lang="en-US"/>
              <a:t>- Literal URL warning -&gt; add URL key in appsettings.</a:t>
            </a:r>
          </a:p>
          <a:p>
            <a:pPr marL="342900" indent="-342900">
              <a:buFont typeface="+mj-lt"/>
              <a:buAutoNum type="arabicPeriod"/>
            </a:pPr>
            <a:r>
              <a:rPr lang="en-US"/>
              <a:t>- Mechanical names -&gt; rename to business names.</a:t>
            </a:r>
          </a:p>
        </p:txBody>
      </p:sp>
    </p:spTree>
    <p:extLst>
      <p:ext uri="{BB962C8B-B14F-4D97-AF65-F5344CB8AC3E}">
        <p14:creationId xmlns:p14="http://schemas.microsoft.com/office/powerpoint/2010/main" val="36420537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6328B0-2E78-2940-2BE7-07A06926C22B}"/>
              </a:ext>
            </a:extLst>
          </p:cNvPr>
          <p:cNvSpPr txBox="1"/>
          <p:nvPr/>
        </p:nvSpPr>
        <p:spPr>
          <a:xfrm>
            <a:off x="381000" y="254000"/>
            <a:ext cx="16002000" cy="553998"/>
          </a:xfrm>
          <a:prstGeom prst="rect">
            <a:avLst/>
          </a:prstGeom>
          <a:noFill/>
        </p:spPr>
        <p:txBody>
          <a:bodyPr vert="horz" rtlCol="0">
            <a:spAutoFit/>
          </a:bodyPr>
          <a:lstStyle/>
          <a:p>
            <a:r>
              <a:rPr lang="en-US" sz="3000" b="1"/>
              <a:t>6. Worked example from sample run (Part 3)</a:t>
            </a:r>
          </a:p>
        </p:txBody>
      </p:sp>
      <p:sp>
        <p:nvSpPr>
          <p:cNvPr id="3" name="TextBox 2">
            <a:extLst>
              <a:ext uri="{FF2B5EF4-FFF2-40B4-BE49-F238E27FC236}">
                <a16:creationId xmlns:a16="http://schemas.microsoft.com/office/drawing/2014/main" id="{08CF9082-F067-6303-E3A3-94A1D9306501}"/>
              </a:ext>
            </a:extLst>
          </p:cNvPr>
          <p:cNvSpPr txBox="1"/>
          <p:nvPr/>
        </p:nvSpPr>
        <p:spPr>
          <a:xfrm>
            <a:off x="508000" y="1270000"/>
            <a:ext cx="15494000" cy="369332"/>
          </a:xfrm>
          <a:prstGeom prst="rect">
            <a:avLst/>
          </a:prstGeom>
          <a:noFill/>
        </p:spPr>
        <p:txBody>
          <a:bodyPr vert="horz" rtlCol="0">
            <a:spAutoFit/>
          </a:bodyPr>
          <a:lstStyle/>
          <a:p>
            <a:pPr marL="342900" indent="-342900">
              <a:buFont typeface="+mj-lt"/>
              <a:buAutoNum type="arabicPeriod"/>
            </a:pPr>
            <a:r>
              <a:rPr lang="en-US"/>
              <a:t>- Repeated chains -&gt; extract reusable parameterized method.</a:t>
            </a:r>
          </a:p>
        </p:txBody>
      </p:sp>
    </p:spTree>
    <p:extLst>
      <p:ext uri="{BB962C8B-B14F-4D97-AF65-F5344CB8AC3E}">
        <p14:creationId xmlns:p14="http://schemas.microsoft.com/office/powerpoint/2010/main" val="11977257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787A46-1FCA-AF69-146A-945799C37D24}"/>
              </a:ext>
            </a:extLst>
          </p:cNvPr>
          <p:cNvSpPr txBox="1"/>
          <p:nvPr/>
        </p:nvSpPr>
        <p:spPr>
          <a:xfrm>
            <a:off x="381000" y="254000"/>
            <a:ext cx="16002000" cy="553998"/>
          </a:xfrm>
          <a:prstGeom prst="rect">
            <a:avLst/>
          </a:prstGeom>
          <a:noFill/>
        </p:spPr>
        <p:txBody>
          <a:bodyPr vert="horz" rtlCol="0">
            <a:spAutoFit/>
          </a:bodyPr>
          <a:lstStyle/>
          <a:p>
            <a:r>
              <a:rPr lang="en-US" sz="3000" b="1"/>
              <a:t>7. Folders not used in daily flow (Part 1)</a:t>
            </a:r>
          </a:p>
        </p:txBody>
      </p:sp>
      <p:sp>
        <p:nvSpPr>
          <p:cNvPr id="3" name="TextBox 2">
            <a:extLst>
              <a:ext uri="{FF2B5EF4-FFF2-40B4-BE49-F238E27FC236}">
                <a16:creationId xmlns:a16="http://schemas.microsoft.com/office/drawing/2014/main" id="{9FEBE0AD-E028-144C-6BD4-E3A9B155AB23}"/>
              </a:ext>
            </a:extLst>
          </p:cNvPr>
          <p:cNvSpPr txBox="1"/>
          <p:nvPr/>
        </p:nvSpPr>
        <p:spPr>
          <a:xfrm>
            <a:off x="508000" y="1270000"/>
            <a:ext cx="15494000" cy="923330"/>
          </a:xfrm>
          <a:prstGeom prst="rect">
            <a:avLst/>
          </a:prstGeom>
          <a:noFill/>
        </p:spPr>
        <p:txBody>
          <a:bodyPr vert="horz" rtlCol="0">
            <a:spAutoFit/>
          </a:bodyPr>
          <a:lstStyle/>
          <a:p>
            <a:pPr marL="342900" indent="-342900">
              <a:buFont typeface="+mj-lt"/>
              <a:buAutoNum type="arabicPeriod"/>
            </a:pPr>
            <a:r>
              <a:rPr lang="en-US"/>
              <a:t>These are roadmap/history modules and mostly not required in daily usage:</a:t>
            </a:r>
          </a:p>
          <a:p>
            <a:pPr marL="342900" indent="-342900">
              <a:buFont typeface="+mj-lt"/>
              <a:buAutoNum type="arabicPeriod"/>
            </a:pPr>
            <a:r>
              <a:rPr lang="en-US"/>
              <a:t>Integration, Learning, Planner, Review, Decision, DuplicateDetection, Validators, Validation, FrameworkEditor, Editors, Generators, Models, Providers, Services, Knowledge, Engine, plus loose TS utilities.</a:t>
            </a:r>
          </a:p>
        </p:txBody>
      </p:sp>
    </p:spTree>
    <p:extLst>
      <p:ext uri="{BB962C8B-B14F-4D97-AF65-F5344CB8AC3E}">
        <p14:creationId xmlns:p14="http://schemas.microsoft.com/office/powerpoint/2010/main" val="39456175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4365D-2BE2-4CAD-76E3-DE2C2BB6C05D}"/>
              </a:ext>
            </a:extLst>
          </p:cNvPr>
          <p:cNvSpPr txBox="1"/>
          <p:nvPr/>
        </p:nvSpPr>
        <p:spPr>
          <a:xfrm>
            <a:off x="381000" y="254000"/>
            <a:ext cx="16002000" cy="553998"/>
          </a:xfrm>
          <a:prstGeom prst="rect">
            <a:avLst/>
          </a:prstGeom>
          <a:noFill/>
        </p:spPr>
        <p:txBody>
          <a:bodyPr vert="horz" rtlCol="0">
            <a:spAutoFit/>
          </a:bodyPr>
          <a:lstStyle/>
          <a:p>
            <a:r>
              <a:rPr lang="en-US" sz="3000" b="1"/>
              <a:t>Layer 0 - Prerequisites (Part 1)</a:t>
            </a:r>
          </a:p>
        </p:txBody>
      </p:sp>
      <p:sp>
        <p:nvSpPr>
          <p:cNvPr id="3" name="TextBox 2">
            <a:extLst>
              <a:ext uri="{FF2B5EF4-FFF2-40B4-BE49-F238E27FC236}">
                <a16:creationId xmlns:a16="http://schemas.microsoft.com/office/drawing/2014/main" id="{45EFA0CD-0AE8-A2E2-27CC-1D90C54382CB}"/>
              </a:ext>
            </a:extLst>
          </p:cNvPr>
          <p:cNvSpPr txBox="1"/>
          <p:nvPr/>
        </p:nvSpPr>
        <p:spPr>
          <a:xfrm>
            <a:off x="508000" y="1270000"/>
            <a:ext cx="15494000" cy="369332"/>
          </a:xfrm>
          <a:prstGeom prst="rect">
            <a:avLst/>
          </a:prstGeom>
          <a:noFill/>
        </p:spPr>
        <p:txBody>
          <a:bodyPr vert="horz" rtlCol="0">
            <a:spAutoFit/>
          </a:bodyPr>
          <a:lstStyle/>
          <a:p>
            <a:pPr marL="342900" indent="-342900">
              <a:buFont typeface="+mj-lt"/>
              <a:buAutoNum type="arabicPeriod"/>
            </a:pPr>
            <a:r>
              <a:rPr lang="en-US"/>
              <a:t>Windows/PowerShell, Node.js, .NET SDK, VS/VS Code + Copilot, working C# Playwright framework.</a:t>
            </a:r>
          </a:p>
        </p:txBody>
      </p:sp>
    </p:spTree>
    <p:extLst>
      <p:ext uri="{BB962C8B-B14F-4D97-AF65-F5344CB8AC3E}">
        <p14:creationId xmlns:p14="http://schemas.microsoft.com/office/powerpoint/2010/main" val="26610179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F6198-FDCB-DEA7-AA3A-825AC4B7E01F}"/>
              </a:ext>
            </a:extLst>
          </p:cNvPr>
          <p:cNvSpPr txBox="1"/>
          <p:nvPr/>
        </p:nvSpPr>
        <p:spPr>
          <a:xfrm>
            <a:off x="381000" y="254000"/>
            <a:ext cx="16002000" cy="553998"/>
          </a:xfrm>
          <a:prstGeom prst="rect">
            <a:avLst/>
          </a:prstGeom>
          <a:noFill/>
        </p:spPr>
        <p:txBody>
          <a:bodyPr vert="horz" rtlCol="0">
            <a:spAutoFit/>
          </a:bodyPr>
          <a:lstStyle/>
          <a:p>
            <a:r>
              <a:rPr lang="en-US" sz="3000" b="1"/>
              <a:t>Layer 1 - Record with saved login (Part 1)</a:t>
            </a:r>
          </a:p>
        </p:txBody>
      </p:sp>
      <p:sp>
        <p:nvSpPr>
          <p:cNvPr id="3" name="TextBox 2">
            <a:extLst>
              <a:ext uri="{FF2B5EF4-FFF2-40B4-BE49-F238E27FC236}">
                <a16:creationId xmlns:a16="http://schemas.microsoft.com/office/drawing/2014/main" id="{E7F07322-EECA-CC5F-F901-E0F91DD59BD8}"/>
              </a:ext>
            </a:extLst>
          </p:cNvPr>
          <p:cNvSpPr txBox="1"/>
          <p:nvPr/>
        </p:nvSpPr>
        <p:spPr>
          <a:xfrm>
            <a:off x="508000" y="1270000"/>
            <a:ext cx="15494000" cy="646331"/>
          </a:xfrm>
          <a:prstGeom prst="rect">
            <a:avLst/>
          </a:prstGeom>
          <a:noFill/>
        </p:spPr>
        <p:txBody>
          <a:bodyPr vert="horz" rtlCol="0">
            <a:spAutoFit/>
          </a:bodyPr>
          <a:lstStyle/>
          <a:p>
            <a:pPr marL="342900" indent="-342900">
              <a:buFont typeface="+mj-lt"/>
              <a:buAutoNum type="arabicPeriod"/>
            </a:pPr>
            <a:r>
              <a:rPr lang="en-US"/>
              <a:t>Create StartCodegen + SessionManager; run playwright codegen with save/load storage.</a:t>
            </a:r>
          </a:p>
          <a:p>
            <a:pPr marL="342900" indent="-342900">
              <a:buFont typeface="+mj-lt"/>
              <a:buAutoNum type="arabicPeriod"/>
            </a:pPr>
            <a:r>
              <a:rPr lang="en-US"/>
              <a:t>Checkpoint: record without re-login each time.</a:t>
            </a:r>
          </a:p>
        </p:txBody>
      </p:sp>
    </p:spTree>
    <p:extLst>
      <p:ext uri="{BB962C8B-B14F-4D97-AF65-F5344CB8AC3E}">
        <p14:creationId xmlns:p14="http://schemas.microsoft.com/office/powerpoint/2010/main" val="1939054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3FFC7C-F2A2-9644-5031-38CA2257F66A}"/>
              </a:ext>
            </a:extLst>
          </p:cNvPr>
          <p:cNvSpPr txBox="1"/>
          <p:nvPr/>
        </p:nvSpPr>
        <p:spPr>
          <a:xfrm>
            <a:off x="381000" y="254000"/>
            <a:ext cx="16002000" cy="553998"/>
          </a:xfrm>
          <a:prstGeom prst="rect">
            <a:avLst/>
          </a:prstGeom>
          <a:noFill/>
        </p:spPr>
        <p:txBody>
          <a:bodyPr vert="horz" rtlCol="0">
            <a:spAutoFit/>
          </a:bodyPr>
          <a:lstStyle/>
          <a:p>
            <a:r>
              <a:rPr lang="en-US" sz="3000" b="1"/>
              <a:t>Layer 2 - Give agent rules (Part 1)</a:t>
            </a:r>
          </a:p>
        </p:txBody>
      </p:sp>
      <p:sp>
        <p:nvSpPr>
          <p:cNvPr id="3" name="TextBox 2">
            <a:extLst>
              <a:ext uri="{FF2B5EF4-FFF2-40B4-BE49-F238E27FC236}">
                <a16:creationId xmlns:a16="http://schemas.microsoft.com/office/drawing/2014/main" id="{8DD51E64-A98D-CC3B-DA0C-899D7EDF3DE6}"/>
              </a:ext>
            </a:extLst>
          </p:cNvPr>
          <p:cNvSpPr txBox="1"/>
          <p:nvPr/>
        </p:nvSpPr>
        <p:spPr>
          <a:xfrm>
            <a:off x="508000" y="1270000"/>
            <a:ext cx="15494000" cy="646331"/>
          </a:xfrm>
          <a:prstGeom prst="rect">
            <a:avLst/>
          </a:prstGeom>
          <a:noFill/>
        </p:spPr>
        <p:txBody>
          <a:bodyPr vert="horz" rtlCol="0">
            <a:spAutoFit/>
          </a:bodyPr>
          <a:lstStyle/>
          <a:p>
            <a:pPr marL="342900" indent="-342900">
              <a:buFont typeface="+mj-lt"/>
              <a:buAutoNum type="arabicPeriod"/>
            </a:pPr>
            <a:r>
              <a:rPr lang="en-US"/>
              <a:t>Create FrameworkContext + FrameworkPrompt; iterate rules based on mistakes.</a:t>
            </a:r>
          </a:p>
          <a:p>
            <a:pPr marL="342900" indent="-342900">
              <a:buFont typeface="+mj-lt"/>
              <a:buAutoNum type="arabicPeriod"/>
            </a:pPr>
            <a:r>
              <a:rPr lang="en-US"/>
              <a:t>Checkpoint: agent generates compiling framework artifacts without duplicates.</a:t>
            </a:r>
          </a:p>
        </p:txBody>
      </p:sp>
    </p:spTree>
    <p:extLst>
      <p:ext uri="{BB962C8B-B14F-4D97-AF65-F5344CB8AC3E}">
        <p14:creationId xmlns:p14="http://schemas.microsoft.com/office/powerpoint/2010/main" val="12946549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0DCAA5-1F5F-EC7E-38D4-9252232ECE92}"/>
              </a:ext>
            </a:extLst>
          </p:cNvPr>
          <p:cNvSpPr txBox="1"/>
          <p:nvPr/>
        </p:nvSpPr>
        <p:spPr>
          <a:xfrm>
            <a:off x="381000" y="254000"/>
            <a:ext cx="16002000" cy="553998"/>
          </a:xfrm>
          <a:prstGeom prst="rect">
            <a:avLst/>
          </a:prstGeom>
          <a:noFill/>
        </p:spPr>
        <p:txBody>
          <a:bodyPr vert="horz" rtlCol="0">
            <a:spAutoFit/>
          </a:bodyPr>
          <a:lstStyle/>
          <a:p>
            <a:r>
              <a:rPr lang="en-US" sz="3000" b="1"/>
              <a:t>Layer 3 - Convert to C# draft (Part 1)</a:t>
            </a:r>
          </a:p>
        </p:txBody>
      </p:sp>
      <p:sp>
        <p:nvSpPr>
          <p:cNvPr id="3" name="TextBox 2">
            <a:extLst>
              <a:ext uri="{FF2B5EF4-FFF2-40B4-BE49-F238E27FC236}">
                <a16:creationId xmlns:a16="http://schemas.microsoft.com/office/drawing/2014/main" id="{D666D4BE-C858-1237-2E1E-6AB42E42BCE4}"/>
              </a:ext>
            </a:extLst>
          </p:cNvPr>
          <p:cNvSpPr txBox="1"/>
          <p:nvPr/>
        </p:nvSpPr>
        <p:spPr>
          <a:xfrm>
            <a:off x="508000" y="1270000"/>
            <a:ext cx="15494000" cy="369332"/>
          </a:xfrm>
          <a:prstGeom prst="rect">
            <a:avLst/>
          </a:prstGeom>
          <a:noFill/>
        </p:spPr>
        <p:txBody>
          <a:bodyPr vert="horz" rtlCol="0">
            <a:spAutoFit/>
          </a:bodyPr>
          <a:lstStyle/>
          <a:p>
            <a:pPr marL="342900" indent="-342900">
              <a:buFont typeface="+mj-lt"/>
              <a:buAutoNum type="arabicPeriod"/>
            </a:pPr>
            <a:r>
              <a:rPr lang="en-US"/>
              <a:t>Build TS-line parser for common actions, add waits, output validator, report JSON, watcher.</a:t>
            </a:r>
          </a:p>
        </p:txBody>
      </p:sp>
    </p:spTree>
    <p:extLst>
      <p:ext uri="{BB962C8B-B14F-4D97-AF65-F5344CB8AC3E}">
        <p14:creationId xmlns:p14="http://schemas.microsoft.com/office/powerpoint/2010/main" val="41308290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F0A51E-7451-C107-A1C8-626ECA9946F8}"/>
              </a:ext>
            </a:extLst>
          </p:cNvPr>
          <p:cNvSpPr txBox="1"/>
          <p:nvPr/>
        </p:nvSpPr>
        <p:spPr>
          <a:xfrm>
            <a:off x="381000" y="254000"/>
            <a:ext cx="16002000" cy="553998"/>
          </a:xfrm>
          <a:prstGeom prst="rect">
            <a:avLst/>
          </a:prstGeom>
          <a:noFill/>
        </p:spPr>
        <p:txBody>
          <a:bodyPr vert="horz" rtlCol="0">
            <a:spAutoFit/>
          </a:bodyPr>
          <a:lstStyle/>
          <a:p>
            <a:r>
              <a:rPr lang="en-US" sz="3000" b="1"/>
              <a:t>Layer 4 - Observation and locator quality (Part 1)</a:t>
            </a:r>
          </a:p>
        </p:txBody>
      </p:sp>
      <p:sp>
        <p:nvSpPr>
          <p:cNvPr id="3" name="TextBox 2">
            <a:extLst>
              <a:ext uri="{FF2B5EF4-FFF2-40B4-BE49-F238E27FC236}">
                <a16:creationId xmlns:a16="http://schemas.microsoft.com/office/drawing/2014/main" id="{80141351-E371-0E4D-A86F-A792E604C0C5}"/>
              </a:ext>
            </a:extLst>
          </p:cNvPr>
          <p:cNvSpPr txBox="1"/>
          <p:nvPr/>
        </p:nvSpPr>
        <p:spPr>
          <a:xfrm>
            <a:off x="508000" y="1270000"/>
            <a:ext cx="15494000" cy="369332"/>
          </a:xfrm>
          <a:prstGeom prst="rect">
            <a:avLst/>
          </a:prstGeom>
          <a:noFill/>
        </p:spPr>
        <p:txBody>
          <a:bodyPr vert="horz" rtlCol="0">
            <a:spAutoFit/>
          </a:bodyPr>
          <a:lstStyle/>
          <a:p>
            <a:pPr marL="342900" indent="-342900">
              <a:buFont typeface="+mj-lt"/>
              <a:buAutoNum type="arabicPeriod"/>
            </a:pPr>
            <a:r>
              <a:rPr lang="en-US"/>
              <a:t>Replay headless with saved session, capture evidence, score stable locators, fallback on uncertainty.</a:t>
            </a:r>
          </a:p>
        </p:txBody>
      </p:sp>
    </p:spTree>
    <p:extLst>
      <p:ext uri="{BB962C8B-B14F-4D97-AF65-F5344CB8AC3E}">
        <p14:creationId xmlns:p14="http://schemas.microsoft.com/office/powerpoint/2010/main" val="21988920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03B9A2-1D6A-634E-D944-62F88115F1F9}"/>
              </a:ext>
            </a:extLst>
          </p:cNvPr>
          <p:cNvSpPr txBox="1"/>
          <p:nvPr/>
        </p:nvSpPr>
        <p:spPr>
          <a:xfrm>
            <a:off x="381000" y="254000"/>
            <a:ext cx="16002000" cy="553998"/>
          </a:xfrm>
          <a:prstGeom prst="rect">
            <a:avLst/>
          </a:prstGeom>
          <a:noFill/>
        </p:spPr>
        <p:txBody>
          <a:bodyPr vert="horz" rtlCol="0">
            <a:spAutoFit/>
          </a:bodyPr>
          <a:lstStyle/>
          <a:p>
            <a:r>
              <a:rPr lang="en-US" sz="3000" b="1"/>
              <a:t>Layer 5 - Test, debug, improve (Part 1)</a:t>
            </a:r>
          </a:p>
        </p:txBody>
      </p:sp>
      <p:sp>
        <p:nvSpPr>
          <p:cNvPr id="3" name="TextBox 2">
            <a:extLst>
              <a:ext uri="{FF2B5EF4-FFF2-40B4-BE49-F238E27FC236}">
                <a16:creationId xmlns:a16="http://schemas.microsoft.com/office/drawing/2014/main" id="{BE38DD37-15F6-2CFE-EB49-15D02D952E96}"/>
              </a:ext>
            </a:extLst>
          </p:cNvPr>
          <p:cNvSpPr txBox="1"/>
          <p:nvPr/>
        </p:nvSpPr>
        <p:spPr>
          <a:xfrm>
            <a:off x="508000" y="1270000"/>
            <a:ext cx="15494000" cy="369332"/>
          </a:xfrm>
          <a:prstGeom prst="rect">
            <a:avLst/>
          </a:prstGeom>
          <a:noFill/>
        </p:spPr>
        <p:txBody>
          <a:bodyPr vert="horz" rtlCol="0">
            <a:spAutoFit/>
          </a:bodyPr>
          <a:lstStyle/>
          <a:p>
            <a:pPr marL="342900" indent="-342900">
              <a:buFont typeface="+mj-lt"/>
              <a:buAutoNum type="arabicPeriod"/>
            </a:pPr>
            <a:r>
              <a:rPr lang="en-US"/>
              <a:t>Add tests, post-generation prompts, optional debug engine with approval gate.</a:t>
            </a:r>
          </a:p>
        </p:txBody>
      </p:sp>
    </p:spTree>
    <p:extLst>
      <p:ext uri="{BB962C8B-B14F-4D97-AF65-F5344CB8AC3E}">
        <p14:creationId xmlns:p14="http://schemas.microsoft.com/office/powerpoint/2010/main" val="32983041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B700D7-9C8A-D57D-D2D9-C115EC39CE2F}"/>
              </a:ext>
            </a:extLst>
          </p:cNvPr>
          <p:cNvSpPr txBox="1"/>
          <p:nvPr/>
        </p:nvSpPr>
        <p:spPr>
          <a:xfrm>
            <a:off x="381000" y="254000"/>
            <a:ext cx="16002000" cy="553998"/>
          </a:xfrm>
          <a:prstGeom prst="rect">
            <a:avLst/>
          </a:prstGeom>
          <a:noFill/>
        </p:spPr>
        <p:txBody>
          <a:bodyPr vert="horz" rtlCol="0">
            <a:spAutoFit/>
          </a:bodyPr>
          <a:lstStyle/>
          <a:p>
            <a:r>
              <a:rPr lang="en-US" sz="3000" b="1"/>
              <a:t>Design principles to teach (Part 1)</a:t>
            </a:r>
          </a:p>
        </p:txBody>
      </p:sp>
      <p:sp>
        <p:nvSpPr>
          <p:cNvPr id="3" name="TextBox 2">
            <a:extLst>
              <a:ext uri="{FF2B5EF4-FFF2-40B4-BE49-F238E27FC236}">
                <a16:creationId xmlns:a16="http://schemas.microsoft.com/office/drawing/2014/main" id="{7B1A355F-099C-3ACA-B45F-B7CFF5515E87}"/>
              </a:ext>
            </a:extLst>
          </p:cNvPr>
          <p:cNvSpPr txBox="1"/>
          <p:nvPr/>
        </p:nvSpPr>
        <p:spPr>
          <a:xfrm>
            <a:off x="508000" y="1270000"/>
            <a:ext cx="15494000" cy="1477328"/>
          </a:xfrm>
          <a:prstGeom prst="rect">
            <a:avLst/>
          </a:prstGeom>
          <a:noFill/>
        </p:spPr>
        <p:txBody>
          <a:bodyPr vert="horz" rtlCol="0">
            <a:spAutoFit/>
          </a:bodyPr>
          <a:lstStyle/>
          <a:p>
            <a:pPr marL="342900" indent="-342900">
              <a:buFont typeface="+mj-lt"/>
              <a:buAutoNum type="arabicPeriod"/>
            </a:pPr>
            <a:r>
              <a:rPr lang="en-US"/>
              <a:t>- Deterministic for exactness, AI for judgement.</a:t>
            </a:r>
          </a:p>
          <a:p>
            <a:pPr marL="342900" indent="-342900">
              <a:buFont typeface="+mj-lt"/>
              <a:buAutoNum type="arabicPeriod"/>
            </a:pPr>
            <a:r>
              <a:rPr lang="en-US"/>
              <a:t>- Never block user flow; always keep fallback.</a:t>
            </a:r>
          </a:p>
          <a:p>
            <a:pPr marL="342900" indent="-342900">
              <a:buFont typeface="+mj-lt"/>
              <a:buAutoNum type="arabicPeriod"/>
            </a:pPr>
            <a:r>
              <a:rPr lang="en-US"/>
              <a:t>- Put rules in files, not memory.</a:t>
            </a:r>
          </a:p>
          <a:p>
            <a:pPr marL="342900" indent="-342900">
              <a:buFont typeface="+mj-lt"/>
              <a:buAutoNum type="arabicPeriod"/>
            </a:pPr>
            <a:r>
              <a:rPr lang="en-US"/>
              <a:t>- Append minimal changes; avoid destructive edits.</a:t>
            </a:r>
          </a:p>
          <a:p>
            <a:pPr marL="342900" indent="-342900">
              <a:buFont typeface="+mj-lt"/>
              <a:buAutoNum type="arabicPeriod"/>
            </a:pPr>
            <a:r>
              <a:rPr lang="en-US"/>
              <a:t>- Keep mandatory human review.</a:t>
            </a:r>
          </a:p>
        </p:txBody>
      </p:sp>
    </p:spTree>
    <p:extLst>
      <p:ext uri="{BB962C8B-B14F-4D97-AF65-F5344CB8AC3E}">
        <p14:creationId xmlns:p14="http://schemas.microsoft.com/office/powerpoint/2010/main" val="7680336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4B909F-819A-CA33-C56A-3CA3419491B7}"/>
              </a:ext>
            </a:extLst>
          </p:cNvPr>
          <p:cNvSpPr txBox="1"/>
          <p:nvPr/>
        </p:nvSpPr>
        <p:spPr>
          <a:xfrm>
            <a:off x="381000" y="254000"/>
            <a:ext cx="16002000" cy="553998"/>
          </a:xfrm>
          <a:prstGeom prst="rect">
            <a:avLst/>
          </a:prstGeom>
          <a:noFill/>
        </p:spPr>
        <p:txBody>
          <a:bodyPr vert="horz" rtlCol="0">
            <a:spAutoFit/>
          </a:bodyPr>
          <a:lstStyle/>
          <a:p>
            <a:r>
              <a:rPr lang="en-US" sz="3000" b="1"/>
              <a:t>9. Troubleshooting and good practice (Part 1)</a:t>
            </a:r>
          </a:p>
        </p:txBody>
      </p:sp>
      <p:sp>
        <p:nvSpPr>
          <p:cNvPr id="3" name="TextBox 2">
            <a:extLst>
              <a:ext uri="{FF2B5EF4-FFF2-40B4-BE49-F238E27FC236}">
                <a16:creationId xmlns:a16="http://schemas.microsoft.com/office/drawing/2014/main" id="{93938687-56C7-C3A1-EBAF-94B3E9D1118A}"/>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Login page every run -&gt; session expired/empty; re-login once.</a:t>
            </a:r>
          </a:p>
          <a:p>
            <a:pPr marL="342900" indent="-342900">
              <a:buFont typeface="+mj-lt"/>
              <a:buAutoNum type="arabicPeriod"/>
            </a:pPr>
            <a:r>
              <a:rPr lang="en-US"/>
              <a:t>Code.cs missing -&gt; skip switch used or generator failed; inspect logs/report.</a:t>
            </a:r>
          </a:p>
          <a:p>
            <a:pPr marL="342900" indent="-342900">
              <a:buFont typeface="+mj-lt"/>
              <a:buAutoNum type="arabicPeriod"/>
            </a:pPr>
            <a:r>
              <a:rPr lang="en-US"/>
              <a:t>Table locators unchanged -&gt; observation skipped or no replay match; run debug mode and inspect LiveObservations.</a:t>
            </a:r>
          </a:p>
          <a:p>
            <a:pPr marL="342900" indent="-342900">
              <a:buFont typeface="+mj-lt"/>
              <a:buAutoNum type="arabicPeriod"/>
            </a:pPr>
            <a:r>
              <a:rPr lang="en-US"/>
              <a:t>Element not found -&gt; popup/iframe/sync issue; inspect frame evidence.</a:t>
            </a:r>
          </a:p>
          <a:p>
            <a:pPr marL="342900" indent="-342900">
              <a:buFont typeface="+mj-lt"/>
              <a:buAutoNum type="arabicPeriod"/>
            </a:pPr>
            <a:r>
              <a:rPr lang="en-US"/>
              <a:t>Duplicate steps -&gt; tighten FrameworkPrompt rules and pre-scan existing steps.</a:t>
            </a:r>
          </a:p>
          <a:p>
            <a:pPr marL="342900" indent="-342900">
              <a:buFont typeface="+mj-lt"/>
              <a:buAutoNum type="arabicPeriod"/>
            </a:pPr>
            <a:r>
              <a:rPr lang="en-US"/>
              <a:t>Hard-coded URL/data -&gt; enforce URL/Excel rules and check review comments.</a:t>
            </a:r>
          </a:p>
          <a:p>
            <a:pPr marL="342900" indent="-342900">
              <a:buFont typeface="+mj-lt"/>
              <a:buAutoNum type="arabicPeriod"/>
            </a:pPr>
            <a:r>
              <a:rPr lang="en-US"/>
              <a:t>Build errors -&gt; ask for smallest fix, avoid renames/deletes.</a:t>
            </a:r>
          </a:p>
        </p:txBody>
      </p:sp>
    </p:spTree>
    <p:extLst>
      <p:ext uri="{BB962C8B-B14F-4D97-AF65-F5344CB8AC3E}">
        <p14:creationId xmlns:p14="http://schemas.microsoft.com/office/powerpoint/2010/main" val="2571061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B47178-1E1F-3EA2-F8D1-E44D1595C4D4}"/>
              </a:ext>
            </a:extLst>
          </p:cNvPr>
          <p:cNvSpPr txBox="1"/>
          <p:nvPr/>
        </p:nvSpPr>
        <p:spPr>
          <a:xfrm>
            <a:off x="381000" y="254000"/>
            <a:ext cx="16002000" cy="553998"/>
          </a:xfrm>
          <a:prstGeom prst="rect">
            <a:avLst/>
          </a:prstGeom>
          <a:noFill/>
        </p:spPr>
        <p:txBody>
          <a:bodyPr vert="horz" rtlCol="0">
            <a:spAutoFit/>
          </a:bodyPr>
          <a:lstStyle/>
          <a:p>
            <a:r>
              <a:rPr lang="en-US" sz="3000" b="1"/>
              <a:t>Security checklist (Part 2)</a:t>
            </a:r>
          </a:p>
        </p:txBody>
      </p:sp>
      <p:sp>
        <p:nvSpPr>
          <p:cNvPr id="3" name="TextBox 2">
            <a:extLst>
              <a:ext uri="{FF2B5EF4-FFF2-40B4-BE49-F238E27FC236}">
                <a16:creationId xmlns:a16="http://schemas.microsoft.com/office/drawing/2014/main" id="{5CA57F4C-D8D4-49E7-D1EF-3DC2CC2B6960}"/>
              </a:ext>
            </a:extLst>
          </p:cNvPr>
          <p:cNvSpPr txBox="1"/>
          <p:nvPr/>
        </p:nvSpPr>
        <p:spPr>
          <a:xfrm>
            <a:off x="508000" y="1270000"/>
            <a:ext cx="15494000" cy="1200329"/>
          </a:xfrm>
          <a:prstGeom prst="rect">
            <a:avLst/>
          </a:prstGeom>
          <a:noFill/>
        </p:spPr>
        <p:txBody>
          <a:bodyPr vert="horz" rtlCol="0">
            <a:spAutoFit/>
          </a:bodyPr>
          <a:lstStyle/>
          <a:p>
            <a:pPr marL="342900" indent="-342900">
              <a:buFont typeface="+mj-lt"/>
              <a:buAutoNum type="arabicPeriod"/>
            </a:pPr>
            <a:r>
              <a:rPr lang="en-US"/>
              <a:t>1) session.json is secret; git-ignore and never share.</a:t>
            </a:r>
          </a:p>
          <a:p>
            <a:pPr marL="342900" indent="-342900">
              <a:buFont typeface="+mj-lt"/>
              <a:buAutoNum type="arabicPeriod"/>
            </a:pPr>
            <a:r>
              <a:rPr lang="en-US"/>
              <a:t>2) Keep API keys only in environment variables/.env (git-ignored).</a:t>
            </a:r>
          </a:p>
          <a:p>
            <a:pPr marL="342900" indent="-342900">
              <a:buFont typeface="+mj-lt"/>
              <a:buAutoNum type="arabicPeriod"/>
            </a:pPr>
            <a:r>
              <a:rPr lang="en-US"/>
              <a:t>3) Redact internal URLs/user names for external sharing.</a:t>
            </a:r>
          </a:p>
          <a:p>
            <a:pPr marL="342900" indent="-342900">
              <a:buFont typeface="+mj-lt"/>
              <a:buAutoNum type="arabicPeriod"/>
            </a:pPr>
            <a:r>
              <a:rPr lang="en-US"/>
              <a:t>4) Review payloads before any AI call.</a:t>
            </a:r>
          </a:p>
        </p:txBody>
      </p:sp>
    </p:spTree>
    <p:extLst>
      <p:ext uri="{BB962C8B-B14F-4D97-AF65-F5344CB8AC3E}">
        <p14:creationId xmlns:p14="http://schemas.microsoft.com/office/powerpoint/2010/main" val="14824706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47EF02-3B9C-6BC6-6AD5-149F9EEAB2B9}"/>
              </a:ext>
            </a:extLst>
          </p:cNvPr>
          <p:cNvSpPr txBox="1"/>
          <p:nvPr/>
        </p:nvSpPr>
        <p:spPr>
          <a:xfrm>
            <a:off x="381000" y="254000"/>
            <a:ext cx="16002000" cy="553998"/>
          </a:xfrm>
          <a:prstGeom prst="rect">
            <a:avLst/>
          </a:prstGeom>
          <a:noFill/>
        </p:spPr>
        <p:txBody>
          <a:bodyPr vert="horz" rtlCol="0">
            <a:spAutoFit/>
          </a:bodyPr>
          <a:lstStyle/>
          <a:p>
            <a:r>
              <a:rPr lang="en-US" sz="3000" b="1"/>
              <a:t>10. Interview preparation (Part 1)</a:t>
            </a:r>
          </a:p>
        </p:txBody>
      </p:sp>
      <p:sp>
        <p:nvSpPr>
          <p:cNvPr id="3" name="TextBox 2">
            <a:extLst>
              <a:ext uri="{FF2B5EF4-FFF2-40B4-BE49-F238E27FC236}">
                <a16:creationId xmlns:a16="http://schemas.microsoft.com/office/drawing/2014/main" id="{5E1791DF-8FCD-7C39-D608-C76BE32D7B01}"/>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10.1 Project questions</a:t>
            </a:r>
          </a:p>
          <a:p>
            <a:pPr marL="342900" indent="-342900">
              <a:buFont typeface="+mj-lt"/>
              <a:buAutoNum type="arabicPeriod"/>
            </a:pPr>
            <a:r>
              <a:rPr lang="en-US"/>
              <a:t>Q1. Explain CodegenAI in one minute.</a:t>
            </a:r>
          </a:p>
          <a:p>
            <a:pPr marL="342900" indent="-342900">
              <a:buFont typeface="+mj-lt"/>
              <a:buAutoNum type="arabicPeriod"/>
            </a:pPr>
            <a:r>
              <a:rPr lang="en-US"/>
              <a:t>A: Recorder pipeline + AI agent. Record once, stabilize with scripts, generate framework artifacts using rules, then build/run.</a:t>
            </a:r>
          </a:p>
          <a:p>
            <a:pPr marL="342900" indent="-342900">
              <a:buFont typeface="+mj-lt"/>
              <a:buAutoNum type="arabicPeriod"/>
            </a:pPr>
            <a:r>
              <a:rPr lang="en-US"/>
              <a:t>Q2. AI vs non-AI parts?</a:t>
            </a:r>
          </a:p>
          <a:p>
            <a:pPr marL="342900" indent="-342900">
              <a:buFont typeface="+mj-lt"/>
              <a:buAutoNum type="arabicPeriod"/>
            </a:pPr>
            <a:r>
              <a:rPr lang="en-US"/>
              <a:t>A: Recorder/intelligence/converter are deterministic; AI handles reuse/naming/placement judgement.</a:t>
            </a:r>
          </a:p>
          <a:p>
            <a:pPr marL="342900" indent="-342900">
              <a:buFont typeface="+mj-lt"/>
              <a:buAutoNum type="arabicPeriod"/>
            </a:pPr>
            <a:r>
              <a:rPr lang="en-US"/>
              <a:t>Q3. Avoid login each run?</a:t>
            </a:r>
          </a:p>
          <a:p>
            <a:pPr marL="342900" indent="-342900">
              <a:buFont typeface="+mj-lt"/>
              <a:buAutoNum type="arabicPeriod"/>
            </a:pPr>
            <a:r>
              <a:rPr lang="en-US"/>
              <a:t>A: Save/load storage state with freshness checks.</a:t>
            </a:r>
          </a:p>
        </p:txBody>
      </p:sp>
    </p:spTree>
    <p:extLst>
      <p:ext uri="{BB962C8B-B14F-4D97-AF65-F5344CB8AC3E}">
        <p14:creationId xmlns:p14="http://schemas.microsoft.com/office/powerpoint/2010/main" val="27965799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EA0C2C-8D19-A71B-0CD4-57D5F64E111C}"/>
              </a:ext>
            </a:extLst>
          </p:cNvPr>
          <p:cNvSpPr txBox="1"/>
          <p:nvPr/>
        </p:nvSpPr>
        <p:spPr>
          <a:xfrm>
            <a:off x="381000" y="254000"/>
            <a:ext cx="16002000" cy="553998"/>
          </a:xfrm>
          <a:prstGeom prst="rect">
            <a:avLst/>
          </a:prstGeom>
          <a:noFill/>
        </p:spPr>
        <p:txBody>
          <a:bodyPr vert="horz" rtlCol="0">
            <a:spAutoFit/>
          </a:bodyPr>
          <a:lstStyle/>
          <a:p>
            <a:r>
              <a:rPr lang="en-US" sz="3000" b="1"/>
              <a:t>10. Interview preparation (Part 2)</a:t>
            </a:r>
          </a:p>
        </p:txBody>
      </p:sp>
      <p:sp>
        <p:nvSpPr>
          <p:cNvPr id="3" name="TextBox 2">
            <a:extLst>
              <a:ext uri="{FF2B5EF4-FFF2-40B4-BE49-F238E27FC236}">
                <a16:creationId xmlns:a16="http://schemas.microsoft.com/office/drawing/2014/main" id="{5516F685-AB51-F7B3-4F0B-1145EBDBEE67}"/>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Q4. What happens after codegen closes?</a:t>
            </a:r>
          </a:p>
          <a:p>
            <a:pPr marL="342900" indent="-342900">
              <a:buFont typeface="+mj-lt"/>
              <a:buAutoNum type="arabicPeriod"/>
            </a:pPr>
            <a:r>
              <a:rPr lang="en-US"/>
              <a:t>A: Replay observation, locator rewrite, final C# generation, watcher cleanup, then agent generation.</a:t>
            </a:r>
          </a:p>
          <a:p>
            <a:pPr marL="342900" indent="-342900">
              <a:buFont typeface="+mj-lt"/>
              <a:buAutoNum type="arabicPeriod"/>
            </a:pPr>
            <a:r>
              <a:rPr lang="en-US"/>
              <a:t>Q5. Why live replay?</a:t>
            </a:r>
          </a:p>
          <a:p>
            <a:pPr marL="342900" indent="-342900">
              <a:buFont typeface="+mj-lt"/>
              <a:buAutoNum type="arabicPeriod"/>
            </a:pPr>
            <a:r>
              <a:rPr lang="en-US"/>
              <a:t>A: Captures real step-time DOM, uniqueness, frame/table context, dynamic attributes.</a:t>
            </a:r>
          </a:p>
          <a:p>
            <a:pPr marL="342900" indent="-342900">
              <a:buFont typeface="+mj-lt"/>
              <a:buAutoNum type="arabicPeriod"/>
            </a:pPr>
            <a:r>
              <a:rPr lang="en-US"/>
              <a:t>Q6. Stable locator decision?</a:t>
            </a:r>
          </a:p>
          <a:p>
            <a:pPr marL="342900" indent="-342900">
              <a:buFont typeface="+mj-lt"/>
              <a:buAutoNum type="arabicPeriod"/>
            </a:pPr>
            <a:r>
              <a:rPr lang="en-US"/>
              <a:t>A: Candidate scoring, dynamic-id penalties, uniqueness validation, safe fallback.</a:t>
            </a:r>
          </a:p>
          <a:p>
            <a:pPr marL="342900" indent="-342900">
              <a:buFont typeface="+mj-lt"/>
              <a:buAutoNum type="arabicPeriod"/>
            </a:pPr>
            <a:r>
              <a:rPr lang="en-US"/>
              <a:t>Q7. Enterprise mode?</a:t>
            </a:r>
          </a:p>
        </p:txBody>
      </p:sp>
    </p:spTree>
    <p:extLst>
      <p:ext uri="{BB962C8B-B14F-4D97-AF65-F5344CB8AC3E}">
        <p14:creationId xmlns:p14="http://schemas.microsoft.com/office/powerpoint/2010/main" val="32123551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49828E-50F2-1727-C51F-6C4C5F01D109}"/>
              </a:ext>
            </a:extLst>
          </p:cNvPr>
          <p:cNvSpPr txBox="1"/>
          <p:nvPr/>
        </p:nvSpPr>
        <p:spPr>
          <a:xfrm>
            <a:off x="381000" y="254000"/>
            <a:ext cx="16002000" cy="553998"/>
          </a:xfrm>
          <a:prstGeom prst="rect">
            <a:avLst/>
          </a:prstGeom>
          <a:noFill/>
        </p:spPr>
        <p:txBody>
          <a:bodyPr vert="horz" rtlCol="0">
            <a:spAutoFit/>
          </a:bodyPr>
          <a:lstStyle/>
          <a:p>
            <a:r>
              <a:rPr lang="en-US" sz="3000" b="1"/>
              <a:t>10. Interview preparation (Part 3)</a:t>
            </a:r>
          </a:p>
        </p:txBody>
      </p:sp>
      <p:sp>
        <p:nvSpPr>
          <p:cNvPr id="3" name="TextBox 2">
            <a:extLst>
              <a:ext uri="{FF2B5EF4-FFF2-40B4-BE49-F238E27FC236}">
                <a16:creationId xmlns:a16="http://schemas.microsoft.com/office/drawing/2014/main" id="{E5C74582-8829-9468-D0A1-46D65E09AD63}"/>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A: Splits long flows into smaller single-responsibility methods.</a:t>
            </a:r>
          </a:p>
          <a:p>
            <a:pPr marL="342900" indent="-342900">
              <a:buFont typeface="+mj-lt"/>
              <a:buAutoNum type="arabicPeriod"/>
            </a:pPr>
            <a:r>
              <a:rPr lang="en-US"/>
              <a:t>Q8. Prevent duplicates?</a:t>
            </a:r>
          </a:p>
          <a:p>
            <a:pPr marL="342900" indent="-342900">
              <a:buFont typeface="+mj-lt"/>
              <a:buAutoNum type="arabicPeriod"/>
            </a:pPr>
            <a:r>
              <a:rPr lang="en-US"/>
              <a:t>A: Rule-driven scanning and exact reuse criteria.</a:t>
            </a:r>
          </a:p>
          <a:p>
            <a:pPr marL="342900" indent="-342900">
              <a:buFont typeface="+mj-lt"/>
              <a:buAutoNum type="arabicPeriod"/>
            </a:pPr>
            <a:r>
              <a:rPr lang="en-US"/>
              <a:t>Q9. URL and data handling?</a:t>
            </a:r>
          </a:p>
          <a:p>
            <a:pPr marL="342900" indent="-342900">
              <a:buFont typeface="+mj-lt"/>
              <a:buAutoNum type="arabicPeriod"/>
            </a:pPr>
            <a:r>
              <a:rPr lang="en-US"/>
              <a:t>A: URLs from config, data from Excel, literals flagged for review.</a:t>
            </a:r>
          </a:p>
          <a:p>
            <a:pPr marL="342900" indent="-342900">
              <a:buFont typeface="+mj-lt"/>
              <a:buAutoNum type="arabicPeriod"/>
            </a:pPr>
            <a:r>
              <a:rPr lang="en-US"/>
              <a:t>Q10. Rule-file evolution?</a:t>
            </a:r>
          </a:p>
          <a:p>
            <a:pPr marL="342900" indent="-342900">
              <a:buFont typeface="+mj-lt"/>
              <a:buAutoNum type="arabicPeriod"/>
            </a:pPr>
            <a:r>
              <a:rPr lang="en-US"/>
              <a:t>A: Each repeated mistake becomes an explicit rule.</a:t>
            </a:r>
          </a:p>
        </p:txBody>
      </p:sp>
    </p:spTree>
    <p:extLst>
      <p:ext uri="{BB962C8B-B14F-4D97-AF65-F5344CB8AC3E}">
        <p14:creationId xmlns:p14="http://schemas.microsoft.com/office/powerpoint/2010/main" val="28081369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2559F8-A385-4BCE-BAFB-125179B72F0A}"/>
              </a:ext>
            </a:extLst>
          </p:cNvPr>
          <p:cNvSpPr txBox="1"/>
          <p:nvPr/>
        </p:nvSpPr>
        <p:spPr>
          <a:xfrm>
            <a:off x="381000" y="254000"/>
            <a:ext cx="16002000" cy="553998"/>
          </a:xfrm>
          <a:prstGeom prst="rect">
            <a:avLst/>
          </a:prstGeom>
          <a:noFill/>
        </p:spPr>
        <p:txBody>
          <a:bodyPr vert="horz" rtlCol="0">
            <a:spAutoFit/>
          </a:bodyPr>
          <a:lstStyle/>
          <a:p>
            <a:r>
              <a:rPr lang="en-US" sz="3000" b="1"/>
              <a:t>10. Interview preparation (Part 4)</a:t>
            </a:r>
          </a:p>
        </p:txBody>
      </p:sp>
      <p:sp>
        <p:nvSpPr>
          <p:cNvPr id="3" name="TextBox 2">
            <a:extLst>
              <a:ext uri="{FF2B5EF4-FFF2-40B4-BE49-F238E27FC236}">
                <a16:creationId xmlns:a16="http://schemas.microsoft.com/office/drawing/2014/main" id="{4B162338-0A21-8ABE-B4D4-BB0F2A3F22FE}"/>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Q11. Limits?</a:t>
            </a:r>
          </a:p>
          <a:p>
            <a:pPr marL="342900" indent="-342900">
              <a:buFont typeface="+mj-lt"/>
              <a:buAutoNum type="arabicPeriod"/>
            </a:pPr>
            <a:r>
              <a:rPr lang="en-US"/>
              <a:t>A: AI non-determinism, noisy recordings, environment dependence, unsupported actions.</a:t>
            </a:r>
          </a:p>
          <a:p>
            <a:pPr marL="342900" indent="-342900">
              <a:buFont typeface="+mj-lt"/>
              <a:buAutoNum type="arabicPeriod"/>
            </a:pPr>
            <a:r>
              <a:rPr lang="en-US"/>
              <a:t>Q12. Handling failure?</a:t>
            </a:r>
          </a:p>
          <a:p>
            <a:pPr marL="342900" indent="-342900">
              <a:buFont typeface="+mj-lt"/>
              <a:buAutoNum type="arabicPeriod"/>
            </a:pPr>
            <a:r>
              <a:rPr lang="en-US"/>
              <a:t>A: classify root cause, use debug engine proposals, approve before apply.</a:t>
            </a:r>
          </a:p>
          <a:p>
            <a:pPr marL="342900" indent="-342900">
              <a:buFont typeface="+mj-lt"/>
              <a:buAutoNum type="arabicPeriod"/>
            </a:pPr>
            <a:r>
              <a:rPr lang="en-US"/>
              <a:t>Q13. Secret safety?</a:t>
            </a:r>
          </a:p>
          <a:p>
            <a:pPr marL="342900" indent="-342900">
              <a:buFont typeface="+mj-lt"/>
              <a:buAutoNum type="arabicPeriod"/>
            </a:pPr>
            <a:r>
              <a:rPr lang="en-US"/>
              <a:t>A: git-ignore secrets, env vars, payload redaction.</a:t>
            </a:r>
          </a:p>
          <a:p>
            <a:pPr marL="342900" indent="-342900">
              <a:buFont typeface="+mj-lt"/>
              <a:buAutoNum type="arabicPeriod"/>
            </a:pPr>
            <a:r>
              <a:rPr lang="en-US"/>
              <a:t>Q14. Next improvements?</a:t>
            </a:r>
          </a:p>
        </p:txBody>
      </p:sp>
    </p:spTree>
    <p:extLst>
      <p:ext uri="{BB962C8B-B14F-4D97-AF65-F5344CB8AC3E}">
        <p14:creationId xmlns:p14="http://schemas.microsoft.com/office/powerpoint/2010/main" val="17079773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6F8357-171A-7733-0009-9F80892B3C6C}"/>
              </a:ext>
            </a:extLst>
          </p:cNvPr>
          <p:cNvSpPr txBox="1"/>
          <p:nvPr/>
        </p:nvSpPr>
        <p:spPr>
          <a:xfrm>
            <a:off x="381000" y="254000"/>
            <a:ext cx="16002000" cy="553998"/>
          </a:xfrm>
          <a:prstGeom prst="rect">
            <a:avLst/>
          </a:prstGeom>
          <a:noFill/>
        </p:spPr>
        <p:txBody>
          <a:bodyPr vert="horz" rtlCol="0">
            <a:spAutoFit/>
          </a:bodyPr>
          <a:lstStyle/>
          <a:p>
            <a:r>
              <a:rPr lang="en-US" sz="3000" b="1"/>
              <a:t>10. Interview preparation (Part 5)</a:t>
            </a:r>
          </a:p>
        </p:txBody>
      </p:sp>
      <p:sp>
        <p:nvSpPr>
          <p:cNvPr id="3" name="TextBox 2">
            <a:extLst>
              <a:ext uri="{FF2B5EF4-FFF2-40B4-BE49-F238E27FC236}">
                <a16:creationId xmlns:a16="http://schemas.microsoft.com/office/drawing/2014/main" id="{AFF15E17-BF5F-854C-0C26-47D065B170C9}"/>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A: better data parameterization, more action support, CI hooks, generator regression suite.</a:t>
            </a:r>
          </a:p>
          <a:p>
            <a:pPr marL="342900" indent="-342900">
              <a:buFont typeface="+mj-lt"/>
              <a:buAutoNum type="arabicPeriod"/>
            </a:pPr>
            <a:r>
              <a:rPr lang="en-US"/>
              <a:t>Q15. Success metrics?</a:t>
            </a:r>
          </a:p>
          <a:p>
            <a:pPr marL="342900" indent="-342900">
              <a:buFont typeface="+mj-lt"/>
              <a:buAutoNum type="arabicPeriod"/>
            </a:pPr>
            <a:r>
              <a:rPr lang="en-US"/>
              <a:t>A: lead time to passing scenario, reuse ratio, duplicate prevention, flakiness trend.</a:t>
            </a:r>
          </a:p>
          <a:p>
            <a:pPr marL="342900" indent="-342900">
              <a:buFont typeface="+mj-lt"/>
              <a:buAutoNum type="arabicPeriod"/>
            </a:pPr>
            <a:r>
              <a:rPr lang="en-US"/>
              <a:t>10.2 General automation questions</a:t>
            </a:r>
          </a:p>
          <a:p>
            <a:pPr marL="342900" indent="-342900">
              <a:buFont typeface="+mj-lt"/>
              <a:buAutoNum type="arabicPeriod"/>
            </a:pPr>
            <a:r>
              <a:rPr lang="en-US"/>
              <a:t>Q1. Playwright vs Selenium?</a:t>
            </a:r>
          </a:p>
          <a:p>
            <a:pPr marL="342900" indent="-342900">
              <a:buFont typeface="+mj-lt"/>
              <a:buAutoNum type="arabicPeriod"/>
            </a:pPr>
            <a:r>
              <a:rPr lang="en-US"/>
              <a:t>A: Playwright has modern auto-waiting, context isolation, tracing, unified API.</a:t>
            </a:r>
          </a:p>
          <a:p>
            <a:pPr marL="342900" indent="-342900">
              <a:buFont typeface="+mj-lt"/>
              <a:buAutoNum type="arabicPeriod"/>
            </a:pPr>
            <a:r>
              <a:rPr lang="en-US"/>
              <a:t>Q2. Auto-waiting?</a:t>
            </a:r>
          </a:p>
        </p:txBody>
      </p:sp>
    </p:spTree>
    <p:extLst>
      <p:ext uri="{BB962C8B-B14F-4D97-AF65-F5344CB8AC3E}">
        <p14:creationId xmlns:p14="http://schemas.microsoft.com/office/powerpoint/2010/main" val="40004733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9459B-51A8-8933-48DD-A6F4C0F4FC78}"/>
              </a:ext>
            </a:extLst>
          </p:cNvPr>
          <p:cNvSpPr txBox="1"/>
          <p:nvPr/>
        </p:nvSpPr>
        <p:spPr>
          <a:xfrm>
            <a:off x="381000" y="254000"/>
            <a:ext cx="16002000" cy="553998"/>
          </a:xfrm>
          <a:prstGeom prst="rect">
            <a:avLst/>
          </a:prstGeom>
          <a:noFill/>
        </p:spPr>
        <p:txBody>
          <a:bodyPr vert="horz" rtlCol="0">
            <a:spAutoFit/>
          </a:bodyPr>
          <a:lstStyle/>
          <a:p>
            <a:r>
              <a:rPr lang="en-US" sz="3000" b="1"/>
              <a:t>10. Interview preparation (Part 6)</a:t>
            </a:r>
          </a:p>
        </p:txBody>
      </p:sp>
      <p:sp>
        <p:nvSpPr>
          <p:cNvPr id="3" name="TextBox 2">
            <a:extLst>
              <a:ext uri="{FF2B5EF4-FFF2-40B4-BE49-F238E27FC236}">
                <a16:creationId xmlns:a16="http://schemas.microsoft.com/office/drawing/2014/main" id="{C99AFBDE-53D9-AD0E-7B4E-8460DCBAC26C}"/>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A: Waits for actionable state before interactions.</a:t>
            </a:r>
          </a:p>
          <a:p>
            <a:pPr marL="342900" indent="-342900">
              <a:buFont typeface="+mj-lt"/>
              <a:buAutoNum type="arabicPeriod"/>
            </a:pPr>
            <a:r>
              <a:rPr lang="en-US"/>
              <a:t>Q3. Locator preference?</a:t>
            </a:r>
          </a:p>
          <a:p>
            <a:pPr marL="342900" indent="-342900">
              <a:buFont typeface="+mj-lt"/>
              <a:buAutoNum type="arabicPeriod"/>
            </a:pPr>
            <a:r>
              <a:rPr lang="en-US"/>
              <a:t>A: Role/label/test-id first; avoid brittle absolute XPath.</a:t>
            </a:r>
          </a:p>
          <a:p>
            <a:pPr marL="342900" indent="-342900">
              <a:buFont typeface="+mj-lt"/>
              <a:buAutoNum type="arabicPeriod"/>
            </a:pPr>
            <a:r>
              <a:rPr lang="en-US"/>
              <a:t>Q4. Browser/context/page?</a:t>
            </a:r>
          </a:p>
          <a:p>
            <a:pPr marL="342900" indent="-342900">
              <a:buFont typeface="+mj-lt"/>
              <a:buAutoNum type="arabicPeriod"/>
            </a:pPr>
            <a:r>
              <a:rPr lang="en-US"/>
              <a:t>A: Engine process, isolated profile, tab.</a:t>
            </a:r>
          </a:p>
          <a:p>
            <a:pPr marL="342900" indent="-342900">
              <a:buFont typeface="+mj-lt"/>
              <a:buAutoNum type="arabicPeriod"/>
            </a:pPr>
            <a:r>
              <a:rPr lang="en-US"/>
              <a:t>Q5. Reuse login?</a:t>
            </a:r>
          </a:p>
          <a:p>
            <a:pPr marL="342900" indent="-342900">
              <a:buFont typeface="+mj-lt"/>
              <a:buAutoNum type="arabicPeriod"/>
            </a:pPr>
            <a:r>
              <a:rPr lang="en-US"/>
              <a:t>A: storage state save/load.</a:t>
            </a:r>
          </a:p>
        </p:txBody>
      </p:sp>
    </p:spTree>
    <p:extLst>
      <p:ext uri="{BB962C8B-B14F-4D97-AF65-F5344CB8AC3E}">
        <p14:creationId xmlns:p14="http://schemas.microsoft.com/office/powerpoint/2010/main" val="13139442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2A4250-FEB4-4F97-75D5-25BAD2FA73F8}"/>
              </a:ext>
            </a:extLst>
          </p:cNvPr>
          <p:cNvSpPr txBox="1"/>
          <p:nvPr/>
        </p:nvSpPr>
        <p:spPr>
          <a:xfrm>
            <a:off x="381000" y="254000"/>
            <a:ext cx="16002000" cy="553998"/>
          </a:xfrm>
          <a:prstGeom prst="rect">
            <a:avLst/>
          </a:prstGeom>
          <a:noFill/>
        </p:spPr>
        <p:txBody>
          <a:bodyPr vert="horz" rtlCol="0">
            <a:spAutoFit/>
          </a:bodyPr>
          <a:lstStyle/>
          <a:p>
            <a:r>
              <a:rPr lang="en-US" sz="3000" b="1"/>
              <a:t>10. Interview preparation (Part 7)</a:t>
            </a:r>
          </a:p>
        </p:txBody>
      </p:sp>
      <p:sp>
        <p:nvSpPr>
          <p:cNvPr id="3" name="TextBox 2">
            <a:extLst>
              <a:ext uri="{FF2B5EF4-FFF2-40B4-BE49-F238E27FC236}">
                <a16:creationId xmlns:a16="http://schemas.microsoft.com/office/drawing/2014/main" id="{962F88F1-0E31-F3D7-4B3B-01FDB744215B}"/>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Q6. iframes/popups/dialogs in C#?</a:t>
            </a:r>
          </a:p>
          <a:p>
            <a:pPr marL="342900" indent="-342900">
              <a:buFont typeface="+mj-lt"/>
              <a:buAutoNum type="arabicPeriod"/>
            </a:pPr>
            <a:r>
              <a:rPr lang="en-US"/>
              <a:t>A: FrameLocator, WaitForPopupAsync, Dialog handlers.</a:t>
            </a:r>
          </a:p>
          <a:p>
            <a:pPr marL="342900" indent="-342900">
              <a:buFont typeface="+mj-lt"/>
              <a:buAutoNum type="arabicPeriod"/>
            </a:pPr>
            <a:r>
              <a:rPr lang="en-US"/>
              <a:t>Q7. Why avoid Thread.Sleep?</a:t>
            </a:r>
          </a:p>
          <a:p>
            <a:pPr marL="342900" indent="-342900">
              <a:buFont typeface="+mj-lt"/>
              <a:buAutoNum type="arabicPeriod"/>
            </a:pPr>
            <a:r>
              <a:rPr lang="en-US"/>
              <a:t>A: slow and flaky; use condition-based waits/assertions.</a:t>
            </a:r>
          </a:p>
          <a:p>
            <a:pPr marL="342900" indent="-342900">
              <a:buFont typeface="+mj-lt"/>
              <a:buAutoNum type="arabicPeriod"/>
            </a:pPr>
            <a:r>
              <a:rPr lang="en-US"/>
              <a:t>Q8. POM?</a:t>
            </a:r>
          </a:p>
          <a:p>
            <a:pPr marL="342900" indent="-342900">
              <a:buFont typeface="+mj-lt"/>
              <a:buAutoNum type="arabicPeriod"/>
            </a:pPr>
            <a:r>
              <a:rPr lang="en-US"/>
              <a:t>A: Separate locators/actions from tests.</a:t>
            </a:r>
          </a:p>
          <a:p>
            <a:pPr marL="342900" indent="-342900">
              <a:buFont typeface="+mj-lt"/>
              <a:buAutoNum type="arabicPeriod"/>
            </a:pPr>
            <a:r>
              <a:rPr lang="en-US"/>
              <a:t>Q9. BDD/Gherkin/SpecFlow?</a:t>
            </a:r>
          </a:p>
        </p:txBody>
      </p:sp>
    </p:spTree>
    <p:extLst>
      <p:ext uri="{BB962C8B-B14F-4D97-AF65-F5344CB8AC3E}">
        <p14:creationId xmlns:p14="http://schemas.microsoft.com/office/powerpoint/2010/main" val="25275366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7E422B-4F40-B426-4CD7-CB7F0A5122B8}"/>
              </a:ext>
            </a:extLst>
          </p:cNvPr>
          <p:cNvSpPr txBox="1"/>
          <p:nvPr/>
        </p:nvSpPr>
        <p:spPr>
          <a:xfrm>
            <a:off x="381000" y="254000"/>
            <a:ext cx="16002000" cy="553998"/>
          </a:xfrm>
          <a:prstGeom prst="rect">
            <a:avLst/>
          </a:prstGeom>
          <a:noFill/>
        </p:spPr>
        <p:txBody>
          <a:bodyPr vert="horz" rtlCol="0">
            <a:spAutoFit/>
          </a:bodyPr>
          <a:lstStyle/>
          <a:p>
            <a:r>
              <a:rPr lang="en-US" sz="3000" b="1"/>
              <a:t>10. Interview preparation (Part 8)</a:t>
            </a:r>
          </a:p>
        </p:txBody>
      </p:sp>
      <p:sp>
        <p:nvSpPr>
          <p:cNvPr id="3" name="TextBox 2">
            <a:extLst>
              <a:ext uri="{FF2B5EF4-FFF2-40B4-BE49-F238E27FC236}">
                <a16:creationId xmlns:a16="http://schemas.microsoft.com/office/drawing/2014/main" id="{0CB3CA10-3CD0-3882-11AD-4005AFD2D5EE}"/>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A: business-readable scenarios bound to C# step methods.</a:t>
            </a:r>
          </a:p>
          <a:p>
            <a:pPr marL="342900" indent="-342900">
              <a:buFont typeface="+mj-lt"/>
              <a:buAutoNum type="arabicPeriod"/>
            </a:pPr>
            <a:r>
              <a:rPr lang="en-US"/>
              <a:t>Q10. Scenario vs outline?</a:t>
            </a:r>
          </a:p>
          <a:p>
            <a:pPr marL="342900" indent="-342900">
              <a:buFont typeface="+mj-lt"/>
              <a:buAutoNum type="arabicPeriod"/>
            </a:pPr>
            <a:r>
              <a:rPr lang="en-US"/>
              <a:t>A: outline repeats same steps across data rows.</a:t>
            </a:r>
          </a:p>
          <a:p>
            <a:pPr marL="342900" indent="-342900">
              <a:buFont typeface="+mj-lt"/>
              <a:buAutoNum type="arabicPeriod"/>
            </a:pPr>
            <a:r>
              <a:rPr lang="en-US"/>
              <a:t>Q11. Hooks?</a:t>
            </a:r>
          </a:p>
          <a:p>
            <a:pPr marL="342900" indent="-342900">
              <a:buFont typeface="+mj-lt"/>
              <a:buAutoNum type="arabicPeriod"/>
            </a:pPr>
            <a:r>
              <a:rPr lang="en-US"/>
              <a:t>A: before/after setup and cleanup.</a:t>
            </a:r>
          </a:p>
          <a:p>
            <a:pPr marL="342900" indent="-342900">
              <a:buFont typeface="+mj-lt"/>
              <a:buAutoNum type="arabicPeriod"/>
            </a:pPr>
            <a:r>
              <a:rPr lang="en-US"/>
              <a:t>Q12. Data-driven tests?</a:t>
            </a:r>
          </a:p>
          <a:p>
            <a:pPr marL="342900" indent="-342900">
              <a:buFont typeface="+mj-lt"/>
              <a:buAutoNum type="arabicPeriod"/>
            </a:pPr>
            <a:r>
              <a:rPr lang="en-US"/>
              <a:t>A: use Excel/JSON/DB keyed by scenario.</a:t>
            </a:r>
          </a:p>
        </p:txBody>
      </p:sp>
    </p:spTree>
    <p:extLst>
      <p:ext uri="{BB962C8B-B14F-4D97-AF65-F5344CB8AC3E}">
        <p14:creationId xmlns:p14="http://schemas.microsoft.com/office/powerpoint/2010/main" val="40817762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2456E5-9FBF-DE73-BEC7-359AE820343C}"/>
              </a:ext>
            </a:extLst>
          </p:cNvPr>
          <p:cNvSpPr txBox="1"/>
          <p:nvPr/>
        </p:nvSpPr>
        <p:spPr>
          <a:xfrm>
            <a:off x="381000" y="254000"/>
            <a:ext cx="16002000" cy="553998"/>
          </a:xfrm>
          <a:prstGeom prst="rect">
            <a:avLst/>
          </a:prstGeom>
          <a:noFill/>
        </p:spPr>
        <p:txBody>
          <a:bodyPr vert="horz" rtlCol="0">
            <a:spAutoFit/>
          </a:bodyPr>
          <a:lstStyle/>
          <a:p>
            <a:r>
              <a:rPr lang="en-US" sz="3000" b="1"/>
              <a:t>10. Interview preparation (Part 9)</a:t>
            </a:r>
          </a:p>
        </p:txBody>
      </p:sp>
      <p:sp>
        <p:nvSpPr>
          <p:cNvPr id="3" name="TextBox 2">
            <a:extLst>
              <a:ext uri="{FF2B5EF4-FFF2-40B4-BE49-F238E27FC236}">
                <a16:creationId xmlns:a16="http://schemas.microsoft.com/office/drawing/2014/main" id="{FB6237DC-B376-B2C6-464E-22B58D23C1E8}"/>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Q13. Flaky test handling?</a:t>
            </a:r>
          </a:p>
          <a:p>
            <a:pPr marL="342900" indent="-342900">
              <a:buFont typeface="+mj-lt"/>
              <a:buAutoNum type="arabicPeriod"/>
            </a:pPr>
            <a:r>
              <a:rPr lang="en-US"/>
              <a:t>A: fix root cause, stabilize locators and synchronization.</a:t>
            </a:r>
          </a:p>
          <a:p>
            <a:pPr marL="342900" indent="-342900">
              <a:buFont typeface="+mj-lt"/>
              <a:buAutoNum type="arabicPeriod"/>
            </a:pPr>
            <a:r>
              <a:rPr lang="en-US"/>
              <a:t>Q14. Trace content?</a:t>
            </a:r>
          </a:p>
          <a:p>
            <a:pPr marL="342900" indent="-342900">
              <a:buFont typeface="+mj-lt"/>
              <a:buAutoNum type="arabicPeriod"/>
            </a:pPr>
            <a:r>
              <a:rPr lang="en-US"/>
              <a:t>A: timeline, DOM snapshots, network, console, screenshots.</a:t>
            </a:r>
          </a:p>
          <a:p>
            <a:pPr marL="342900" indent="-342900">
              <a:buFont typeface="+mj-lt"/>
              <a:buAutoNum type="arabicPeriod"/>
            </a:pPr>
            <a:r>
              <a:rPr lang="en-US"/>
              <a:t>Q15. async/await in C#?</a:t>
            </a:r>
          </a:p>
          <a:p>
            <a:pPr marL="342900" indent="-342900">
              <a:buFont typeface="+mj-lt"/>
              <a:buAutoNum type="arabicPeriod"/>
            </a:pPr>
            <a:r>
              <a:rPr lang="en-US"/>
              <a:t>A: all browser calls async; always await.</a:t>
            </a:r>
          </a:p>
          <a:p>
            <a:pPr marL="342900" indent="-342900">
              <a:buFont typeface="+mj-lt"/>
              <a:buAutoNum type="arabicPeriod"/>
            </a:pPr>
            <a:r>
              <a:rPr lang="en-US"/>
              <a:t>Q16. CI run?</a:t>
            </a:r>
          </a:p>
        </p:txBody>
      </p:sp>
    </p:spTree>
    <p:extLst>
      <p:ext uri="{BB962C8B-B14F-4D97-AF65-F5344CB8AC3E}">
        <p14:creationId xmlns:p14="http://schemas.microsoft.com/office/powerpoint/2010/main" val="37557384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36DE9B-1DC6-F610-F58E-A13CD1FB27AE}"/>
              </a:ext>
            </a:extLst>
          </p:cNvPr>
          <p:cNvSpPr txBox="1"/>
          <p:nvPr/>
        </p:nvSpPr>
        <p:spPr>
          <a:xfrm>
            <a:off x="381000" y="254000"/>
            <a:ext cx="16002000" cy="553998"/>
          </a:xfrm>
          <a:prstGeom prst="rect">
            <a:avLst/>
          </a:prstGeom>
          <a:noFill/>
        </p:spPr>
        <p:txBody>
          <a:bodyPr vert="horz" rtlCol="0">
            <a:spAutoFit/>
          </a:bodyPr>
          <a:lstStyle/>
          <a:p>
            <a:r>
              <a:rPr lang="en-US" sz="3000" b="1"/>
              <a:t>10. Interview preparation (Part 10)</a:t>
            </a:r>
          </a:p>
        </p:txBody>
      </p:sp>
      <p:sp>
        <p:nvSpPr>
          <p:cNvPr id="3" name="TextBox 2">
            <a:extLst>
              <a:ext uri="{FF2B5EF4-FFF2-40B4-BE49-F238E27FC236}">
                <a16:creationId xmlns:a16="http://schemas.microsoft.com/office/drawing/2014/main" id="{E2080E27-026C-EF61-B1FC-40961688DFE2}"/>
              </a:ext>
            </a:extLst>
          </p:cNvPr>
          <p:cNvSpPr txBox="1"/>
          <p:nvPr/>
        </p:nvSpPr>
        <p:spPr>
          <a:xfrm>
            <a:off x="508000" y="1270000"/>
            <a:ext cx="15494000" cy="2031325"/>
          </a:xfrm>
          <a:prstGeom prst="rect">
            <a:avLst/>
          </a:prstGeom>
          <a:noFill/>
        </p:spPr>
        <p:txBody>
          <a:bodyPr vert="horz" rtlCol="0">
            <a:spAutoFit/>
          </a:bodyPr>
          <a:lstStyle/>
          <a:p>
            <a:pPr marL="342900" indent="-342900">
              <a:buFont typeface="+mj-lt"/>
              <a:buAutoNum type="arabicPeriod"/>
            </a:pPr>
            <a:r>
              <a:rPr lang="en-US"/>
              <a:t>A: dotnet test headless + artifact publishing.</a:t>
            </a:r>
          </a:p>
          <a:p>
            <a:pPr marL="342900" indent="-342900">
              <a:buFont typeface="+mj-lt"/>
              <a:buAutoNum type="arabicPeriod"/>
            </a:pPr>
            <a:r>
              <a:rPr lang="en-US"/>
              <a:t>Q17. Reliable table/grid testing?</a:t>
            </a:r>
          </a:p>
          <a:p>
            <a:pPr marL="342900" indent="-342900">
              <a:buFont typeface="+mj-lt"/>
              <a:buAutoNum type="arabicPeriod"/>
            </a:pPr>
            <a:r>
              <a:rPr lang="en-US"/>
              <a:t>A: stable row anchor + scoped cell strategy.</a:t>
            </a:r>
          </a:p>
          <a:p>
            <a:pPr marL="342900" indent="-342900">
              <a:buFont typeface="+mj-lt"/>
              <a:buAutoNum type="arabicPeriod"/>
            </a:pPr>
            <a:r>
              <a:rPr lang="en-US"/>
              <a:t>Q18. AI-generated code risks?</a:t>
            </a:r>
          </a:p>
          <a:p>
            <a:pPr marL="342900" indent="-342900">
              <a:buFont typeface="+mj-lt"/>
              <a:buAutoNum type="arabicPeriod"/>
            </a:pPr>
            <a:r>
              <a:rPr lang="en-US"/>
              <a:t>A: hallucinations/duplicates/hardcoding; mitigate with rules + review + build/test.</a:t>
            </a:r>
          </a:p>
          <a:p>
            <a:pPr marL="342900" indent="-342900">
              <a:buFont typeface="+mj-lt"/>
              <a:buAutoNum type="arabicPeriod"/>
            </a:pPr>
            <a:r>
              <a:rPr lang="en-US"/>
              <a:t>Q19. xUnit vs NUnit vs MSTest?</a:t>
            </a:r>
          </a:p>
          <a:p>
            <a:pPr marL="342900" indent="-342900">
              <a:buFont typeface="+mj-lt"/>
              <a:buAutoNum type="arabicPeriod"/>
            </a:pPr>
            <a:r>
              <a:rPr lang="en-US"/>
              <a:t>A: all valid; xUnit commonly used with fixtures/parallel behavior.</a:t>
            </a:r>
          </a:p>
        </p:txBody>
      </p:sp>
    </p:spTree>
    <p:extLst>
      <p:ext uri="{BB962C8B-B14F-4D97-AF65-F5344CB8AC3E}">
        <p14:creationId xmlns:p14="http://schemas.microsoft.com/office/powerpoint/2010/main" val="38577552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8E715C-79CB-B591-618E-7E262C6474CD}"/>
              </a:ext>
            </a:extLst>
          </p:cNvPr>
          <p:cNvSpPr txBox="1"/>
          <p:nvPr/>
        </p:nvSpPr>
        <p:spPr>
          <a:xfrm>
            <a:off x="381000" y="254000"/>
            <a:ext cx="16002000" cy="553998"/>
          </a:xfrm>
          <a:prstGeom prst="rect">
            <a:avLst/>
          </a:prstGeom>
          <a:noFill/>
        </p:spPr>
        <p:txBody>
          <a:bodyPr vert="horz" rtlCol="0">
            <a:spAutoFit/>
          </a:bodyPr>
          <a:lstStyle/>
          <a:p>
            <a:r>
              <a:rPr lang="en-US" sz="3000" b="1"/>
              <a:t>10. Interview preparation (Part 11)</a:t>
            </a:r>
          </a:p>
        </p:txBody>
      </p:sp>
      <p:sp>
        <p:nvSpPr>
          <p:cNvPr id="3" name="TextBox 2">
            <a:extLst>
              <a:ext uri="{FF2B5EF4-FFF2-40B4-BE49-F238E27FC236}">
                <a16:creationId xmlns:a16="http://schemas.microsoft.com/office/drawing/2014/main" id="{EDAA1190-FAA4-9F37-0B42-18766371AC5C}"/>
              </a:ext>
            </a:extLst>
          </p:cNvPr>
          <p:cNvSpPr txBox="1"/>
          <p:nvPr/>
        </p:nvSpPr>
        <p:spPr>
          <a:xfrm>
            <a:off x="508000" y="1270000"/>
            <a:ext cx="15494000" cy="1200329"/>
          </a:xfrm>
          <a:prstGeom prst="rect">
            <a:avLst/>
          </a:prstGeom>
          <a:noFill/>
        </p:spPr>
        <p:txBody>
          <a:bodyPr vert="horz" rtlCol="0">
            <a:spAutoFit/>
          </a:bodyPr>
          <a:lstStyle/>
          <a:p>
            <a:pPr marL="342900" indent="-342900">
              <a:buFont typeface="+mj-lt"/>
              <a:buAutoNum type="arabicPeriod"/>
            </a:pPr>
            <a:r>
              <a:rPr lang="en-US"/>
              <a:t>Q20. Validate AJAX action?</a:t>
            </a:r>
          </a:p>
          <a:p>
            <a:pPr marL="342900" indent="-342900">
              <a:buFont typeface="+mj-lt"/>
              <a:buAutoNum type="arabicPeriod"/>
            </a:pPr>
            <a:r>
              <a:rPr lang="en-US"/>
              <a:t>A: wait response/loader completion then assert UI state.</a:t>
            </a:r>
          </a:p>
          <a:p>
            <a:pPr marL="342900" indent="-342900">
              <a:buFont typeface="+mj-lt"/>
              <a:buAutoNum type="arabicPeriod"/>
            </a:pPr>
            <a:r>
              <a:rPr lang="en-US"/>
              <a:t>Q21. Wait vs assertion?</a:t>
            </a:r>
          </a:p>
          <a:p>
            <a:pPr marL="342900" indent="-342900">
              <a:buFont typeface="+mj-lt"/>
              <a:buAutoNum type="arabicPeriod"/>
            </a:pPr>
            <a:r>
              <a:rPr lang="en-US"/>
              <a:t>A: wait synchronizes; assertion verifies expected outcome (web-first assertions do both).</a:t>
            </a:r>
          </a:p>
        </p:txBody>
      </p:sp>
    </p:spTree>
    <p:extLst>
      <p:ext uri="{BB962C8B-B14F-4D97-AF65-F5344CB8AC3E}">
        <p14:creationId xmlns:p14="http://schemas.microsoft.com/office/powerpoint/2010/main" val="11113906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48D21B-F8B9-8D04-E022-D210E5C16E5C}"/>
              </a:ext>
            </a:extLst>
          </p:cNvPr>
          <p:cNvSpPr txBox="1"/>
          <p:nvPr/>
        </p:nvSpPr>
        <p:spPr>
          <a:xfrm>
            <a:off x="381000" y="254000"/>
            <a:ext cx="16002000" cy="553998"/>
          </a:xfrm>
          <a:prstGeom prst="rect">
            <a:avLst/>
          </a:prstGeom>
          <a:noFill/>
        </p:spPr>
        <p:txBody>
          <a:bodyPr vert="horz" rtlCol="0">
            <a:spAutoFit/>
          </a:bodyPr>
          <a:lstStyle/>
          <a:p>
            <a:r>
              <a:rPr lang="fr-FR" sz="3000" b="1"/>
              <a:t>11. KT session checklist (Part 1)</a:t>
            </a:r>
            <a:endParaRPr lang="en-US" sz="3000" b="1"/>
          </a:p>
        </p:txBody>
      </p:sp>
      <p:sp>
        <p:nvSpPr>
          <p:cNvPr id="3" name="TextBox 2">
            <a:extLst>
              <a:ext uri="{FF2B5EF4-FFF2-40B4-BE49-F238E27FC236}">
                <a16:creationId xmlns:a16="http://schemas.microsoft.com/office/drawing/2014/main" id="{64B8ACCA-5696-50C8-4140-76DB265010FD}"/>
              </a:ext>
            </a:extLst>
          </p:cNvPr>
          <p:cNvSpPr txBox="1"/>
          <p:nvPr/>
        </p:nvSpPr>
        <p:spPr>
          <a:xfrm>
            <a:off x="508000" y="1270000"/>
            <a:ext cx="15494000" cy="1754326"/>
          </a:xfrm>
          <a:prstGeom prst="rect">
            <a:avLst/>
          </a:prstGeom>
          <a:noFill/>
        </p:spPr>
        <p:txBody>
          <a:bodyPr vert="horz" rtlCol="0">
            <a:spAutoFit/>
          </a:bodyPr>
          <a:lstStyle/>
          <a:p>
            <a:pPr marL="342900" indent="-342900">
              <a:buFont typeface="+mj-lt"/>
              <a:buAutoNum type="arabicPeriod"/>
            </a:pPr>
            <a:r>
              <a:rPr lang="en-US"/>
              <a:t>- Demo end-to-end once without interruptions.</a:t>
            </a:r>
          </a:p>
          <a:p>
            <a:pPr marL="342900" indent="-342900">
              <a:buFont typeface="+mj-lt"/>
              <a:buAutoNum type="arabicPeriod"/>
            </a:pPr>
            <a:r>
              <a:rPr lang="en-US"/>
              <a:t>- Replay timeline while script runs second pass.</a:t>
            </a:r>
          </a:p>
          <a:p>
            <a:pPr marL="342900" indent="-342900">
              <a:buFont typeface="+mj-lt"/>
              <a:buAutoNum type="arabicPeriod"/>
            </a:pPr>
            <a:r>
              <a:rPr lang="en-US"/>
              <a:t>- Show one Code.ts to Code.cs locator rewrite.</a:t>
            </a:r>
          </a:p>
          <a:p>
            <a:pPr marL="342900" indent="-342900">
              <a:buFont typeface="+mj-lt"/>
              <a:buAutoNum type="arabicPeriod"/>
            </a:pPr>
            <a:r>
              <a:rPr lang="en-US"/>
              <a:t>- Explain 3 key FrameworkPrompt rules and prevented failures.</a:t>
            </a:r>
          </a:p>
          <a:p>
            <a:pPr marL="342900" indent="-342900">
              <a:buFont typeface="+mj-lt"/>
              <a:buAutoNum type="arabicPeriod"/>
            </a:pPr>
            <a:r>
              <a:rPr lang="en-US"/>
              <a:t>- Each team member records a short flow and runs generation.</a:t>
            </a:r>
          </a:p>
          <a:p>
            <a:pPr marL="342900" indent="-342900">
              <a:buFont typeface="+mj-lt"/>
              <a:buAutoNum type="arabicPeriod"/>
            </a:pPr>
            <a:r>
              <a:rPr lang="en-US"/>
              <a:t>- Do one shared review and add one new rule.</a:t>
            </a:r>
          </a:p>
        </p:txBody>
      </p:sp>
    </p:spTree>
    <p:extLst>
      <p:ext uri="{BB962C8B-B14F-4D97-AF65-F5344CB8AC3E}">
        <p14:creationId xmlns:p14="http://schemas.microsoft.com/office/powerpoint/2010/main" val="22810422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18A5B6-5038-81FB-C288-575F70B2420B}"/>
              </a:ext>
            </a:extLst>
          </p:cNvPr>
          <p:cNvSpPr txBox="1"/>
          <p:nvPr/>
        </p:nvSpPr>
        <p:spPr>
          <a:xfrm>
            <a:off x="381000" y="254000"/>
            <a:ext cx="16002000" cy="553998"/>
          </a:xfrm>
          <a:prstGeom prst="rect">
            <a:avLst/>
          </a:prstGeom>
          <a:noFill/>
        </p:spPr>
        <p:txBody>
          <a:bodyPr vert="horz" rtlCol="0">
            <a:spAutoFit/>
          </a:bodyPr>
          <a:lstStyle/>
          <a:p>
            <a:r>
              <a:rPr lang="en-US" sz="3000" b="1"/>
              <a:t>Interview Q&amp;A Included</a:t>
            </a:r>
          </a:p>
        </p:txBody>
      </p:sp>
      <p:sp>
        <p:nvSpPr>
          <p:cNvPr id="3" name="TextBox 2">
            <a:extLst>
              <a:ext uri="{FF2B5EF4-FFF2-40B4-BE49-F238E27FC236}">
                <a16:creationId xmlns:a16="http://schemas.microsoft.com/office/drawing/2014/main" id="{B480A307-EDCB-D412-E82D-AEFC0223CA76}"/>
              </a:ext>
            </a:extLst>
          </p:cNvPr>
          <p:cNvSpPr txBox="1"/>
          <p:nvPr/>
        </p:nvSpPr>
        <p:spPr>
          <a:xfrm>
            <a:off x="508000" y="1270000"/>
            <a:ext cx="15494000" cy="923330"/>
          </a:xfrm>
          <a:prstGeom prst="rect">
            <a:avLst/>
          </a:prstGeom>
          <a:noFill/>
        </p:spPr>
        <p:txBody>
          <a:bodyPr vert="horz" rtlCol="0">
            <a:spAutoFit/>
          </a:bodyPr>
          <a:lstStyle/>
          <a:p>
            <a:pPr marL="342900" indent="-342900">
              <a:buFont typeface="+mj-lt"/>
              <a:buAutoNum type="arabicPeriod"/>
            </a:pPr>
            <a:r>
              <a:rPr lang="en-US"/>
              <a:t>Project interview questions and answers included.</a:t>
            </a:r>
          </a:p>
          <a:p>
            <a:pPr marL="342900" indent="-342900">
              <a:buFont typeface="+mj-lt"/>
              <a:buAutoNum type="arabicPeriod"/>
            </a:pPr>
            <a:r>
              <a:rPr lang="en-US"/>
              <a:t>General automation interview questions and answers included.</a:t>
            </a:r>
          </a:p>
          <a:p>
            <a:pPr marL="342900" indent="-342900">
              <a:buFont typeface="+mj-lt"/>
              <a:buAutoNum type="arabicPeriod"/>
            </a:pPr>
            <a:r>
              <a:rPr lang="en-US"/>
              <a:t>This deck is ready for KT and interview preparation.</a:t>
            </a:r>
          </a:p>
        </p:txBody>
      </p:sp>
    </p:spTree>
    <p:extLst>
      <p:ext uri="{BB962C8B-B14F-4D97-AF65-F5344CB8AC3E}">
        <p14:creationId xmlns:p14="http://schemas.microsoft.com/office/powerpoint/2010/main" val="3232395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3672</Words>
  <Application>Microsoft Office PowerPoint</Application>
  <PresentationFormat>Widescreen</PresentationFormat>
  <Paragraphs>326</Paragraphs>
  <Slides>58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Garlapati, Shivakumar</dc:creator>
  <cp:lastModifiedBy>Garlapati, Shivakumar</cp:lastModifiedBy>
  <cp:revision>1</cp:revision>
  <dcterms:created xsi:type="dcterms:W3CDTF">2026-10-06T13:27:48Z</dcterms:created>
  <dcterms:modified xsi:type="dcterms:W3CDTF">2026-10-06T13:27:48Z</dcterms:modified>
</cp:coreProperties>
</file>